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problem statement and context. Emphasize fixed adversary for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table to ~10 symbols; use same names in talk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per-step ordering clearly; mention fixed red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equation, then explain expectation and fixed adversary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components and numeric values used in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any max-decoy constraints and partial observability implications for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numeric example: show how rewards and costs accumulate; highlight strategic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verbatim LaTeX snippet from source for expert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``All warfare is based on deception.''</a:t>
            </a:r>
          </a:p>
          <a:p>
            <a:pPr>
              <a:defRPr sz="1800"/>
            </a:pPr>
            <a:r>
              <a:t>``He will win who knows when to fight and when not to fight.''</a:t>
            </a:r>
          </a:p>
          <a:p>
            <a:pPr>
              <a:defRPr sz="1800"/>
            </a:pPr>
            <a:r>
              <a:t>``The greatest victory is that which requires no battle.'' --- Sun Tzu, The Art of War.</a:t>
            </a:r>
          </a:p>
        </p:txBody>
      </p:sp>
      <p:pic>
        <p:nvPicPr>
          <p:cNvPr id="4" name="Picture 3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Real-world deployment in operational environments</a:t>
            </a:r>
          </a:p>
          <a:p>
            <a:pPr>
              <a:defRPr sz="1800"/>
            </a:pPr>
            <a:r>
              <a:t>Adversarial co-evolution with learning attackers (self-play)</a:t>
            </a:r>
          </a:p>
          <a:p>
            <a:pPr>
              <a:defRPr sz="1800"/>
            </a:pPr>
            <a:r>
              <a:t>Multi-defender coordination across distributed networks</a:t>
            </a:r>
          </a:p>
          <a:p>
            <a:pPr>
              <a:defRPr sz="1800"/>
            </a:pPr>
            <a:r>
              <a:t>Integration with existing security infrastructure (SIEM, EDR)</a:t>
            </a:r>
          </a:p>
          <a:p>
            <a:pPr>
              <a:defRPr sz="18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 decoys dynamically to maximise long-term defender return under a fixed adversary.</a:t>
            </a:r>
          </a:p>
          <a:p>
            <a:pPr/>
            <a:r>
              <a:t>Domain: enterprise network; episodes up to H=50 timesteps.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Notation (key symbols)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2509">
                <a:tc>
                  <a:txBody>
                    <a:bodyPr/>
                    <a:lstStyle/>
                    <a:p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Episode length (timesteps), H=50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Timestep index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Discount factor (0.99)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\pi^{(b)}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policy (learned)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\pi^{(r)}_{	ext{fixed}}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 policy (fixed adversary)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S_t^{(b)}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observation/state vector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A_t^{(b)}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action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R_t^{(b)}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reward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J^{(b)}(\pi)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expected return objective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\mathcal{A}^{(b)}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action space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d_b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 of blue observation vector (2|W|+2)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Dynamics &amp;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Per-timestep sequence: Red acts → environment updates → Blue observes → Blue acts → rewards.</a:t>
            </a:r>
          </a:p>
          <a:p>
            <a:pPr/>
            <a:r>
              <a:t>Episode length H timesteps; each step: one red action, one blue action.</a:t>
            </a:r>
          </a:p>
          <a:p>
            <a:pPr/>
            <a:r>
              <a:t>Timing: Blue observes S_t, chooses A_t^{(b)}; environment processes red attack and updates state for t+1.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46304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 action → Env update → Blue observe (S_t) → Blue action (A_t) → Reward R_t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Objective: Maximise expected defender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\[ J^{(b)}(\pi^{(b)}) = \mathbb{E}\left[\sum_{t=0}^{H-1} \gamma^t R_t^{(b)}\right] \]</a:t>
            </a:r>
          </a:p>
          <a:p>
            <a:r>
              <a:t>Expectation over environment transitions and red behaviour (red fixed). γ=0.99.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R_t^{(b)} = R_{\text{attack}}^{(b)} + R_{\text{action}}^{(b)}</a:t>
            </a:r>
          </a:p>
          <a:p>
            <a:r>
              <a:t>R_{\text{attack}}^{(b)} = 10\cdot v_r \cdot \mathbb{I}[\text{red attacks decoy}] - v_r \cdot \mathbb{I}[\text{red attacks asset}]</a:t>
            </a:r>
          </a:p>
          <a:p>
            <a:r>
              <a:t>R_{\text{action}}^{(b)} = -20\cdot \mathbb{I}[a_t^{(b)}=\text{deploy}] - 1\cdot \mathbb{I}[a_t^{(b)}=\text{remove}]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2011680"/>
          <a:ext cx="2743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Deception 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+10 × v_r (exp.)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Deploy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/ Action &amp;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 space: deploy_decoy/remove_decoy on subnets; |A^{(b)}| = 2|N| + 1 (including nothing).</a:t>
            </a:r>
          </a:p>
          <a:p>
            <a:pPr/>
            <a:r>
              <a:t>Costs: deploy = -20, remove = -1; resource limits may apply (max active decoys).</a:t>
            </a:r>
          </a:p>
          <a:p>
            <a:pPr/>
            <a:r>
              <a:t>Observation: S_t^{(b)} \in R^{d_b}, d_b = 2|W| + 2; partial observability via binary alerts.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(4-step)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0: Blue deploys decoy on subnet N1 (cost -20).</a:t>
            </a:r>
          </a:p>
          <a:p>
            <a:pPr/>
            <a:r>
              <a:t>Step 1: Red attacks host w3 (hits decoy). Reward: Blue +10·v_r; Red penalized.</a:t>
            </a:r>
          </a:p>
          <a:p>
            <a:pPr/>
            <a:r>
              <a:t>Step 2: Blue observes alert on decoy; updates policy context.</a:t>
            </a:r>
          </a:p>
          <a:p>
            <a:pPr/>
            <a:r>
              <a:t>Step 3: Blue removes decoy later (cost -1) or redeploys elsewhere; cumulative return changes accordingly.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\section{Problem Formulation and Environment}</a:t>
            </a:r>
          </a:p>
          <a:p/>
          <a:p>
            <a:r>
              <a:t>\subsection{Problem Formulation}</a:t>
            </a:r>
          </a:p>
          <a:p/>
          <a:p>
            <a:r>
              <a:t>We model cyber defense as a two-player game between an attacker (red agent) and defender (blue agent) operating on a network topology. Each game consists of up to $H = 50$ timesteps, representing a complete attack scenario.</a:t>
            </a:r>
          </a:p>
          <a:p/>
          <a:p>
            <a:r>
              <a:t>\textbf{Agent Roles:} The red agent follows a fixed policy $\pi^{(r)}_{\text{fixed}}$ that executes MITRE ATT\&amp;CK techniques against network hosts. The blue agent learns a policy $\pi^{(b)}$ through PPO to strategically deploy decoys that mislead attackers while protecting real assets.</a:t>
            </a:r>
          </a:p>
          <a:p/>
          <a:p>
            <a:r>
              <a:t>\textbf{Turn-Based Interaction:} At each timestep $t$, the blue agent first observes the network state $S_t^{(b)} \in \mathbb{R}^{d_b}$ and selects a defensive action $A_t^{(b)}$ (deploy decoy, remove decoy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, or do nothing). The red agent then attacks a target, updating the network state for the next timestep.</a:t>
            </a:r>
          </a:p>
          <a:p/>
          <a:p>
            <a:r>
              <a:t>\textbf{Adversarial Rewards:} When the red agent attacks real hosts, it gains positive reward while the blue agent receives negative reward. When the red agent attacks decoys, the rewards reverse: the blue agent receives a deception bonus ($+10 \times$ red reward) while the red agent is penalized.</a:t>
            </a:r>
          </a:p>
          <a:p/>
          <a:p>
            <a:r>
              <a:t>\textbf{Learning Objective:} The blue agent learns to maximize its expected cumulative reward:</a:t>
            </a:r>
          </a:p>
          <a:p>
            <a:r>
              <a:t>\begin{equation}</a:t>
            </a:r>
          </a:p>
          <a:p>
            <a:r>
              <a:t>J^{(b)}(\pi^{(b)}) = \mathbb{E}\left[\sum_{t=0}^{49} \gamma^t R_t^{(b)}\right]</a:t>
            </a:r>
          </a:p>
          <a:p>
            <a:r>
              <a:t>\label{eq:blue_objective}</a:t>
            </a:r>
          </a:p>
          <a:p>
            <a:r>
              <a:t>\end{equation}</a:t>
            </a:r>
          </a:p>
          <a:p/>
          <a:p>
            <a:r>
              <a:t>where $\gamma = 0.99$ discounts future rewards and $R_t^{(b)}$ combines deployment costs (-20.0 per decoy) with deception bonuses (+10× attacker reward when deco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ys are attacked).</a:t>
            </a:r>
          </a:p>
          <a:p/>
          <a:p>
            <a:r>
              <a:t>\textbf{Fixed Adversary Model:} We train against a fixed red agent that executes MITRE ATT\&amp;CK techniques, ensuring reproducible evaluation and isolating defensive learning dynamics.</a:t>
            </a:r>
          </a:p>
          <a:p/>
          <a:p>
            <a:r>
              <a:t>\subsection{Network Representation and State Space}</a:t>
            </a:r>
          </a:p>
          <a:p/>
          <a:p>
            <a:r>
              <a:t>The environment models enterprise network topologies with realistic characteristics as shown in Figure~\ref{fig:network_environment}. Networks consist of multiple subnets (demilitarized zone [DMZ], internal networks) containing a mix of real assets and strategically placed decoys.</a:t>
            </a:r>
          </a:p>
          <a:p/>
          <a:p/>
          <a:p>
            <a:r>
              <a:t>\begin{comment}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draw=gray!60, fill=gray!8, minimum width=20mm, minimum height=12mm, font=\scriptsize, thick, rounded corners=2pt, align=center},</a:t>
            </a:r>
          </a:p>
          <a:p>
            <a:r>
              <a:t>    agent/.style={rectangle, draw=black, fill=yellow!15, minimum width=18mm, minimum height=10mm, font=\scriptsize, thick, rounded corners=2pt, align=center},</a:t>
            </a:r>
          </a:p>
          <a:p>
            <a:r>
              <a:t>    firewall/.style={rectangle, draw=red!80, fill=red!20, minimum width=8mm, minimum height=15mm, font=\tiny, thick, align=center},</a:t>
            </a:r>
          </a:p>
          <a:p>
            <a:r>
              <a:t>    internet/.style={ellipse, draw=green!60, fill=green!10, minimum width=15mm, minimum height=8mm, thick,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6) {Internet};</a:t>
            </a:r>
          </a:p>
          <a:p/>
          <a:p>
            <a:r>
              <a:t>% Firewall - gateway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\node[firewall] (firewall) at (-4, 6) {FW};</a:t>
            </a:r>
          </a:p>
          <a:p/>
          <a:p>
            <a:r>
              <a:t>% Network subnets - more spaced out</a:t>
            </a:r>
          </a:p>
          <a:p>
            <a:r>
              <a:t>\node[subnet] (subnet1) at (-5, 4.5) {DMZ\\$N_1$};</a:t>
            </a:r>
          </a:p>
          <a:p>
            <a:r>
              <a:t>\node[subnet] (subnet2) at (-1, 4.5) {Internal\\$N_2$};  </a:t>
            </a:r>
          </a:p>
          <a:p>
            <a:r>
              <a:t>\node[subnet] (subnet3) at (3, 4.5) {Critical\\$N_3$};</a:t>
            </a:r>
          </a:p>
          <a:p/>
          <a:p>
            <a:r>
              <a:t>% Hosts - positioned above subnets to avoid overlap</a:t>
            </a:r>
          </a:p>
          <a:p>
            <a:r>
              <a:t>\node[host] (h1) at (-5.5, 5) {$w_1$};</a:t>
            </a:r>
          </a:p>
          <a:p>
            <a:r>
              <a:t>\node[decoy] (d1) at (-4.5, 5) {$d_1$};</a:t>
            </a:r>
          </a:p>
          <a:p/>
          <a:p>
            <a:r>
              <a:t>\node[host] (h2) at (-1.5, 5) {$w_2$};</a:t>
            </a:r>
          </a:p>
          <a:p>
            <a:r>
              <a:t>\node[compromised] (h3) at (-0.5, 5) {$w_3$};</a:t>
            </a:r>
          </a:p>
          <a:p/>
          <a:p>
            <a:r>
              <a:t>\node[host] (h4) at (2.5, 5) {$w_4$};</a:t>
            </a:r>
          </a:p>
          <a:p>
            <a:r>
              <a:t>\node[host] (h5) at (3.5, 5) {$w_5$};</a:t>
            </a:r>
          </a:p>
          <a:p/>
          <a:p>
            <a:r>
              <a:t>% Network connections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3.8);</a:t>
            </a:r>
          </a:p>
          <a:p>
            <a:r>
              <a:t>\draw[thick, gray!60] (-5, 3.8) -- (-1, 3.8) -- (3, 3.8);</a:t>
            </a:r>
          </a:p>
          <a:p>
            <a:r>
              <a:t>\node[font=\scriptsize] at (-1, 3.5) {Internal Network};</a:t>
            </a:r>
          </a:p>
          <a:p/>
          <a:p>
            <a:r>
              <a:t>% Agents - more separated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\node[agent, fill=red!15] (red) at (-5, 1.5) {\textbf{Red Agent}\\Fixed $\pi^{(r)}$};</a:t>
            </a:r>
          </a:p>
          <a:p>
            <a:r>
              <a:t>\node[agent, fill=blue!15] (blue) at (3, 1.5) {\textbf{Blue Agent}\\PPO $\pi^{(b)}$};</a:t>
            </a:r>
          </a:p>
          <a:p/>
          <a:p>
            <a:r>
              <a:t>% Key interactions - cleaner paths to avoid subnet overlap</a:t>
            </a:r>
          </a:p>
          <a:p>
            <a:r>
              <a:t>\draw[-&gt;, thick, blue!70] (blue) to[out=120, in=270] (d1) node[near end, right, font=\tiny] {deploy};</a:t>
            </a:r>
          </a:p>
          <a:p>
            <a:r>
              <a:t>\draw[-&gt;, thick, red!70, dashed] (red) to[out=60, in=270] (h3) node[near end, left, font=\tiny] {attack};</a:t>
            </a:r>
          </a:p>
          <a:p/>
          <a:p>
            <a:r>
              <a:t>% Essential state info</a:t>
            </a:r>
          </a:p>
          <a:p>
            <a:r>
              <a:t>\node[font=\tiny] at (-5, 0.8) {MITRE ATT\&amp;CK};</a:t>
            </a:r>
          </a:p>
          <a:p>
            <a:r>
              <a:t>\node[font=\tiny] at (3, 0.8) {$d_b = 2|\mathcal{W}| + 2$};</a:t>
            </a:r>
          </a:p>
          <a:p/>
          <a:p>
            <a:r>
              <a:t>% Reward system - larger box to fit text properly</a:t>
            </a:r>
          </a:p>
          <a:p>
            <a:r>
              <a:t>\node[rectangle, draw=orange!70, fill=orange!10, minimum width=40mm, minimum height=12mm, rounded corners=3pt] at (-1, -0.5) (reward) {};</a:t>
            </a:r>
          </a:p>
          <a:p>
            <a:r>
              <a:t>\node[font=\scriptsize, align=center]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 (reward.center) {\textbf{Adversarial Rewards}\\Blue: +15/-10, Red: +10/-5};</a:t>
            </a:r>
          </a:p>
          <a:p/>
          <a:p>
            <a:r>
              <a:t>% Reward connections - cleaner paths</a:t>
            </a:r>
          </a:p>
          <a:p>
            <a:r>
              <a:t>\draw[&lt;-&gt;, orange!70, thick] (red) to[out=270, in=200] (reward);</a:t>
            </a:r>
          </a:p>
          <a:p>
            <a:r>
              <a:t>\draw[&lt;-&gt;, orange!70, thick] (blue) to[out=270, in=340] (reward);</a:t>
            </a:r>
          </a:p>
          <a:p/>
          <a:p>
            <a:r>
              <a:t>% Legend - moved further right with more space</a:t>
            </a:r>
          </a:p>
          <a:p>
            <a:r>
              <a:t>\node[font=\scriptsize] at (6, 3.5) {\textbf{Legend}};</a:t>
            </a:r>
          </a:p>
          <a:p>
            <a:r>
              <a:t>\node[host] at (5.2, 3.1) {}; \node[right, font=\scriptsize] at (5.5, 3.1) {Clean Host};</a:t>
            </a:r>
          </a:p>
          <a:p>
            <a:r>
              <a:t>\node[decoy] at (5.2, 2.8) {}; \node[right, font=\scriptsize] at (5.5, 2.8) {Decoy Host};</a:t>
            </a:r>
          </a:p>
          <a:p>
            <a:r>
              <a:t>\node[compromised] at (5.2, 2.5) {}; \node[right, font=\scriptsize] at (5.5, 2.5) {Compromised};</a:t>
            </a:r>
          </a:p>
          <a:p>
            <a:r>
              <a:t>%\node[firewall] at (5.2, 2.2) {}; \node[right, font=\scriptsize] at (5.5, 2.2) {Firewall};</a:t>
            </a:r>
          </a:p>
          <a:p/>
          <a:p>
            <a:r>
              <a:t>% Environment info</a:t>
            </a:r>
          </a:p>
          <a:p>
            <a:r>
              <a:t>\node[font=\tiny, align=center] at (6, 1.5) {Scale:\\15-200 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osts\\3-8 subnets};</a:t>
            </a:r>
          </a:p>
          <a:p/>
          <a:p>
            <a:r>
              <a:t>\end{tikzpicture}</a:t>
            </a:r>
          </a:p>
          <a:p>
            <a:r>
              <a:t>\caption{Multi-agent cyber defense environment showing a network topology with DMZ and internal subnets containing real assets (workstations, servers) and strategically placed decoys. Red agent executes attacks with MITRE ATT\&amp;CK techniques (dashed red arrows) while blue agent learns optimal decoy deployment defense through PPO reinforcement learning (solid blue arrows). Zero-sum rewards provide feedback for PPO learning.}</a:t>
            </a:r>
          </a:p>
          <a:p>
            <a:r>
              <a:t>\label{fig:network_overview}</a:t>
            </a:r>
          </a:p>
          <a:p>
            <a:r>
              <a:t>\end{figure}</a:t>
            </a:r>
          </a:p>
          <a:p/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font=\small,</a:t>
            </a:r>
          </a:p>
          <a:p>
            <a:r>
              <a:t>    % Network device styles</a:t>
            </a:r>
          </a:p>
          <a:p>
            <a:r>
              <a:t>    server/.style={</a:t>
            </a:r>
          </a:p>
          <a:p>
            <a:r>
              <a:t>        draw=blue!70,</a:t>
            </a:r>
          </a:p>
          <a:p>
            <a:r>
              <a:t>        fill=blue!10,</a:t>
            </a:r>
          </a:p>
          <a:p>
            <a:r>
              <a:t>        rectangle,</a:t>
            </a:r>
          </a:p>
          <a:p>
            <a:r>
              <a:t>        minimum width=0.8cm,</a:t>
            </a:r>
          </a:p>
          <a:p>
            <a:r>
              <a:t>        minimum height=0.6cm,</a:t>
            </a:r>
          </a:p>
          <a:p>
            <a:r>
              <a:t>        rounded corners=2pt</a:t>
            </a:r>
          </a:p>
          <a:p>
            <a:r>
              <a:t>    },</a:t>
            </a:r>
          </a:p>
          <a:p>
            <a:r>
              <a:t>    workstation/.st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yle={</a:t>
            </a:r>
          </a:p>
          <a:p>
            <a:r>
              <a:t>        draw=gray!70,</a:t>
            </a:r>
          </a:p>
          <a:p>
            <a:r>
              <a:t>        fill=gray!10,</a:t>
            </a:r>
          </a:p>
          <a:p>
            <a:r>
              <a:t>        rectangle,</a:t>
            </a:r>
          </a:p>
          <a:p>
            <a:r>
              <a:t>        minimum width=0.7cm,</a:t>
            </a:r>
          </a:p>
          <a:p>
            <a:r>
              <a:t>        minimum height=0.5cm,</a:t>
            </a:r>
          </a:p>
          <a:p>
            <a:r>
              <a:t>        rounded corners=2pt</a:t>
            </a:r>
          </a:p>
          <a:p>
            <a:r>
              <a:t>    },</a:t>
            </a:r>
          </a:p>
          <a:p>
            <a:r>
              <a:t>    decoy/.style={</a:t>
            </a:r>
          </a:p>
          <a:p>
            <a:r>
              <a:t>        draw=yellow!80,</a:t>
            </a:r>
          </a:p>
          <a:p>
            <a:r>
              <a:t>        fill=yellow!20,</a:t>
            </a:r>
          </a:p>
          <a:p>
            <a:r>
              <a:t>        rectangle,</a:t>
            </a:r>
          </a:p>
          <a:p>
            <a:r>
              <a:t>        minimum width=0.8cm,</a:t>
            </a:r>
          </a:p>
          <a:p>
            <a:r>
              <a:t>        minimum height=0.6cm,</a:t>
            </a:r>
          </a:p>
          <a:p>
            <a:r>
              <a:t>        rounded corners=2pt,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router/.style={</a:t>
            </a:r>
          </a:p>
          <a:p>
            <a:r>
              <a:t>        draw=orange!70,</a:t>
            </a:r>
          </a:p>
          <a:p>
            <a:r>
              <a:t>        fill=orange!15,</a:t>
            </a:r>
          </a:p>
          <a:p>
            <a:r>
              <a:t>        circle,</a:t>
            </a:r>
          </a:p>
          <a:p>
            <a:r>
              <a:t>        minimum size=1cm</a:t>
            </a:r>
          </a:p>
          <a:p>
            <a:r>
              <a:t>    },</a:t>
            </a:r>
          </a:p>
          <a:p>
            <a:r>
              <a:t>    switch/.style={</a:t>
            </a:r>
          </a:p>
          <a:p>
            <a:r>
              <a:t>        draw=green!70,</a:t>
            </a:r>
          </a:p>
          <a:p>
            <a:r>
              <a:t>        fill=green!10,</a:t>
            </a:r>
          </a:p>
          <a:p>
            <a:r>
              <a:t>        rectangle,</a:t>
            </a:r>
          </a:p>
          <a:p>
            <a:r>
              <a:t>        minimum width=1.2cm,</a:t>
            </a:r>
          </a:p>
          <a:p>
            <a:r>
              <a:t>        minimum height=0.4cm</a:t>
            </a:r>
          </a:p>
          <a:p>
            <a:r>
              <a:t>    },</a:t>
            </a:r>
          </a:p>
          <a:p>
            <a:r>
              <a:t>    subnet/.style={</a:t>
            </a:r>
          </a:p>
          <a:p>
            <a:r>
              <a:t>        draw=gray!40,</a:t>
            </a:r>
          </a:p>
          <a:p>
            <a:r>
              <a:t>        fill=gray!5,</a:t>
            </a:r>
          </a:p>
          <a:p>
            <a:r>
              <a:t>        rounded corners=8pt,</a:t>
            </a:r>
          </a:p>
          <a:p>
            <a:r>
              <a:t>        line width=1pt,</a:t>
            </a:r>
          </a:p>
          <a:p>
            <a:r>
              <a:t>        dashed</a:t>
            </a:r>
          </a:p>
          <a:p>
            <a:r>
              <a:t>    },</a:t>
            </a:r>
          </a:p>
          <a:p>
            <a:r>
              <a:t>    agent/.style={</a:t>
            </a:r>
          </a:p>
          <a:p>
            <a:r>
              <a:t>        dr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aw=purple!70,</a:t>
            </a:r>
          </a:p>
          <a:p>
            <a:r>
              <a:t>        fill=purple!10,</a:t>
            </a:r>
          </a:p>
          <a:p>
            <a:r>
              <a:t>        rounded corners=5pt,</a:t>
            </a:r>
          </a:p>
          <a:p>
            <a:r>
              <a:t>        minimum width=2.5cm,</a:t>
            </a:r>
          </a:p>
          <a:p>
            <a:r>
              <a:t>        minimum height=1.5cm,</a:t>
            </a:r>
          </a:p>
          <a:p>
            <a:r>
              <a:t>        align=center,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attack/.style={</a:t>
            </a:r>
          </a:p>
          <a:p>
            <a:r>
              <a:t>        -stealth,</a:t>
            </a:r>
          </a:p>
          <a:p>
            <a:r>
              <a:t>        red!70,</a:t>
            </a:r>
          </a:p>
          <a:p>
            <a:r>
              <a:t>        line width=2pt,</a:t>
            </a:r>
          </a:p>
          <a:p>
            <a:r>
              <a:t>        dashed</a:t>
            </a:r>
          </a:p>
          <a:p>
            <a:r>
              <a:t>    },</a:t>
            </a:r>
          </a:p>
          <a:p>
            <a:r>
              <a:t>    defense/.style={</a:t>
            </a:r>
          </a:p>
          <a:p>
            <a:r>
              <a:t>        -stealth,</a:t>
            </a:r>
          </a:p>
          <a:p>
            <a:r>
              <a:t>        blue!70,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alert/.style={</a:t>
            </a:r>
          </a:p>
          <a:p>
            <a:r>
              <a:t>        -stealth,</a:t>
            </a:r>
          </a:p>
          <a:p>
            <a:r>
              <a:t>        orange!70,</a:t>
            </a:r>
          </a:p>
          <a:p>
            <a:r>
              <a:t>        line width=1.5pt,</a:t>
            </a:r>
          </a:p>
          <a:p>
            <a:r>
              <a:t>        dotted</a:t>
            </a:r>
          </a:p>
          <a:p>
            <a:r>
              <a:t>    }</a:t>
            </a:r>
          </a:p>
          <a:p>
            <a:r>
              <a:t>]</a:t>
            </a:r>
          </a:p>
          <a:p/>
          <a:p>
            <a:r>
              <a:t>% DMZ Subnet</a:t>
            </a:r>
          </a:p>
          <a:p>
            <a:r>
              <a:t>\node[subnet, minimum width=4cm, minimum height=2.5cm] at (-3,2) (dmz_subnet) {};</a:t>
            </a:r>
          </a:p>
          <a:p>
            <a:r>
              <a:t>\node[above left] at (dmz_subnet.north west) {\textbf{DMZ (10.0.1.0/24)}};</a:t>
            </a:r>
          </a:p>
          <a:p/>
          <a:p>
            <a:r>
              <a:t>% DMZ devices</a:t>
            </a:r>
          </a:p>
          <a:p>
            <a:r>
              <a:t>\node[server] at (-4,2.5) (web1) {};</a:t>
            </a:r>
          </a:p>
          <a:p>
            <a:r>
              <a:t>\node[below, font=\tiny] at (web1.south) {Web};</a:t>
            </a:r>
          </a:p>
          <a:p>
            <a:r>
              <a:t>\node[server] at (-3.2,2.5) (web2) {};</a:t>
            </a:r>
          </a:p>
          <a:p>
            <a:r>
              <a:t>\node[below, font=\ti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ny] at (web2.south) {API};</a:t>
            </a:r>
          </a:p>
          <a:p>
            <a:r>
              <a:t>\node[decoy] at (-2.4,2.5) (decoy1) {};</a:t>
            </a:r>
          </a:p>
          <a:p>
            <a:r>
              <a:t>\node[below, font=\tiny] at (decoy1.south) {Decoy};</a:t>
            </a:r>
          </a:p>
          <a:p>
            <a:r>
              <a:t>\node[server] at (-3.6,1.5) (lb) {};</a:t>
            </a:r>
          </a:p>
          <a:p>
            <a:r>
              <a:t>\node[below, font=\tiny] at (lb.south) {LB};</a:t>
            </a:r>
          </a:p>
          <a:p/>
          <a:p>
            <a:r>
              <a:t>% Internal Subnet</a:t>
            </a:r>
          </a:p>
          <a:p>
            <a:r>
              <a:t>\node[subnet, minimum width=5cm, minimum height=2.5cm] at (2,2) (int_subnet) {};</a:t>
            </a:r>
          </a:p>
          <a:p>
            <a:r>
              <a:t>\node[above left] at (int_subnet.north west) {\textbf{Internal (10.0.2.0/24)}};</a:t>
            </a:r>
          </a:p>
          <a:p/>
          <a:p>
            <a:r>
              <a:t>% Internal devices</a:t>
            </a:r>
          </a:p>
          <a:p>
            <a:r>
              <a:t>\node[workstation] at (0.5,2.8) (ws1) {};</a:t>
            </a:r>
          </a:p>
          <a:p>
            <a:r>
              <a:t>\node[below, font=\tiny] at (ws1.south) {WS1};</a:t>
            </a:r>
          </a:p>
          <a:p>
            <a:r>
              <a:t>\node[workstation] at (1.3,2.8) (ws2) {};</a:t>
            </a:r>
          </a:p>
          <a:p>
            <a:r>
              <a:t>\node[below, font=\tiny] at (ws2.south) {WS2};</a:t>
            </a:r>
          </a:p>
          <a:p>
            <a:r>
              <a:t>\node[workstation] at (2.1,2.8) (ws3) {};</a:t>
            </a:r>
          </a:p>
          <a:p>
            <a:r>
              <a:t>\node[below, font=\tiny] at (ws3.south) {WS3};</a:t>
            </a:r>
          </a:p>
          <a:p>
            <a:r>
              <a:t>\node[decoy] at (2.9,2.8) (decoy2) {};</a:t>
            </a:r>
          </a:p>
          <a:p>
            <a:r>
              <a:t>\node[below, font=\tiny] at (decoy2.south) {Decoy};</a:t>
            </a:r>
          </a:p>
          <a:p>
            <a:r>
              <a:t>\node[server] at (1.4,1.8) (file) {};</a:t>
            </a:r>
          </a:p>
          <a:p>
            <a:r>
              <a:t>\no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de[below, font=\tiny] at (file.south) {File Srv};</a:t>
            </a:r>
          </a:p>
          <a:p>
            <a:r>
              <a:t>\node[workstation] at (3.3,1.8) (ws4) {};</a:t>
            </a:r>
          </a:p>
          <a:p>
            <a:r>
              <a:t>\node[below, font=\tiny] at (ws4.south) {WS4};</a:t>
            </a:r>
          </a:p>
          <a:p/>
          <a:p>
            <a:r>
              <a:t>% Critical Assets Subnet</a:t>
            </a:r>
          </a:p>
          <a:p>
            <a:r>
              <a:t>\node[subnet, minimum width=3cm, minimum height=2cm] at (6,2.5) (crit_subnet) {};</a:t>
            </a:r>
          </a:p>
          <a:p>
            <a:r>
              <a:t>\node[above left] at (crit_subnet.north west) {\textbf{Critical Assets}};</a:t>
            </a:r>
          </a:p>
          <a:p/>
          <a:p>
            <a:r>
              <a:t>% Critical devices</a:t>
            </a:r>
          </a:p>
          <a:p>
            <a:r>
              <a:t>\node[server] at (5.8,3) (db) {};</a:t>
            </a:r>
          </a:p>
          <a:p>
            <a:r>
              <a:t>\node[below, font=\tiny] at (db.south) {DB};</a:t>
            </a:r>
          </a:p>
          <a:p>
            <a:r>
              <a:t>\node[server] at (6.5,3) (dc) {};</a:t>
            </a:r>
          </a:p>
          <a:p>
            <a:r>
              <a:t>\node[below, font=\tiny] at (dc.south) {DC};</a:t>
            </a:r>
          </a:p>
          <a:p>
            <a:r>
              <a:t>\node[server] at (6.2,2.2) (backup) {};</a:t>
            </a:r>
          </a:p>
          <a:p>
            <a:r>
              <a:t>\node[below, font=\tiny] at (backup.south) {Backup};</a:t>
            </a:r>
          </a:p>
          <a:p/>
          <a:p>
            <a:r>
              <a:t>% Network infrastructure</a:t>
            </a:r>
          </a:p>
          <a:p>
            <a:r>
              <a:t>\node[router] at (0,0) (router) {};</a:t>
            </a:r>
          </a:p>
          <a:p>
            <a:r>
              <a:t>\node[below] at (router.south) {\textbf{Router}};</a:t>
            </a:r>
          </a:p>
          <a:p/>
          <a:p>
            <a:r>
              <a:t>\node[switch] at (-3,0.5) (sw1) {};</a:t>
            </a:r>
          </a:p>
          <a:p>
            <a:r>
              <a:t>\node[below, font=\tiny] at (sw1.south) {DMZ Switch};</a:t>
            </a:r>
          </a:p>
          <a:p/>
          <a:p>
            <a:r>
              <a:t>\nod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e[switch] at (2,0.5) (sw2) {};</a:t>
            </a:r>
          </a:p>
          <a:p>
            <a:r>
              <a:t>\node[below, font=\tiny] at (sw2.south) {Internal Switch};</a:t>
            </a:r>
          </a:p>
          <a:p/>
          <a:p>
            <a:r>
              <a:t>\node[switch] at (6,1) (sw3) {};</a:t>
            </a:r>
          </a:p>
          <a:p>
            <a:r>
              <a:t>\node[below, font=\tiny] at (sw3.south) {Core Switch};</a:t>
            </a:r>
          </a:p>
          <a:p/>
          <a:p>
            <a:r>
              <a:t>% Network connections</a:t>
            </a:r>
          </a:p>
          <a:p>
            <a:r>
              <a:t>\draw[thick, gray!60] (router) -- (sw1);</a:t>
            </a:r>
          </a:p>
          <a:p>
            <a:r>
              <a:t>\draw[thick, gray!60] (router) -- (sw2);</a:t>
            </a:r>
          </a:p>
          <a:p>
            <a:r>
              <a:t>\draw[thick, gray!60] (router) -- (sw3);</a:t>
            </a:r>
          </a:p>
          <a:p/>
          <a:p>
            <a:r>
              <a:t>% Switch to subnet connections</a:t>
            </a:r>
          </a:p>
          <a:p>
            <a:r>
              <a:t>\draw[thick, gray!40] (sw1) -- (-3,1.2);</a:t>
            </a:r>
          </a:p>
          <a:p>
            <a:r>
              <a:t>\draw[thick, gray!40] (sw2) -- (2,1.2);</a:t>
            </a:r>
          </a:p>
          <a:p>
            <a:r>
              <a:t>\draw[thick, gray!40] (sw3) -- (6,1.5);</a:t>
            </a:r>
          </a:p>
          <a:p/>
          <a:p>
            <a:r>
              <a:t>% Red Agent (Attacker)</a:t>
            </a:r>
          </a:p>
          <a:p>
            <a:r>
              <a:t>\node[agent, fill=red!15, draw=red!70] at (-6,-1) (red_agent) {</a:t>
            </a:r>
          </a:p>
          <a:p>
            <a:r>
              <a:t>    \textbf{Red Agent}\\</a:t>
            </a:r>
          </a:p>
          <a:p>
            <a:r>
              <a:t>    \textbf{(Attacker)}\\[2pt]</a:t>
            </a:r>
          </a:p>
          <a:p>
            <a:r>
              <a:t>    \footnotesize MITRE ATT\&amp;CK\\</a:t>
            </a:r>
          </a:p>
          <a:p>
            <a:r>
              <a:t>    \footnotesize Fixed Policy</a:t>
            </a:r>
          </a:p>
          <a:p>
            <a:r>
              <a:t>};</a:t>
            </a:r>
          </a:p>
          <a:p/>
          <a:p>
            <a:r>
              <a:t>% Blue Agent (Defender)</a:t>
            </a:r>
          </a:p>
          <a:p>
            <a:r>
              <a:t>\node[agent, fill=blue!15, draw=blue!70] at (8,-1) (blue_agent) {</a:t>
            </a:r>
          </a:p>
          <a:p>
            <a:r>
              <a:t>    \textbf{Blue Ag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ent}\\</a:t>
            </a:r>
          </a:p>
          <a:p>
            <a:r>
              <a:t>    \textbf{(Defender)}\\[2pt]</a:t>
            </a:r>
          </a:p>
          <a:p>
            <a:r>
              <a:t>    \footnotesize PPO Learning\\</a:t>
            </a:r>
          </a:p>
          <a:p>
            <a:r>
              <a:t>    \footnotesize Decoy Deployment</a:t>
            </a:r>
          </a:p>
          <a:p>
            <a:r>
              <a:t>};</a:t>
            </a:r>
          </a:p>
          <a:p/>
          <a:p>
            <a:r>
              <a:t>% Attack flow arrows</a:t>
            </a:r>
          </a:p>
          <a:p>
            <a:r>
              <a:t>\draw[attack] (red_agent) to[bend left=20] (web1);</a:t>
            </a:r>
          </a:p>
          <a:p>
            <a:r>
              <a:t>\draw[attack] (red_agent) to[bend left=25] (ws2);</a:t>
            </a:r>
          </a:p>
          <a:p>
            <a:r>
              <a:t>\draw[attack, red!50] (ws2) to[bend left=15] (file);</a:t>
            </a:r>
          </a:p>
          <a:p>
            <a:r>
              <a:t>\draw[attack, red!50] (file) to[bend left=10] (db);</a:t>
            </a:r>
          </a:p>
          <a:p/>
          <a:p>
            <a:r>
              <a:t>% Defense actions</a:t>
            </a:r>
          </a:p>
          <a:p>
            <a:r>
              <a:t>\draw[defense] (blue_agent) to[bend right=30] (decoy1);</a:t>
            </a:r>
          </a:p>
          <a:p>
            <a:r>
              <a:t>\draw[defense] (blue_agent) to[bend right=20] (decoy2);</a:t>
            </a:r>
          </a:p>
          <a:p/>
          <a:p>
            <a:r>
              <a:t>% Alert flows</a:t>
            </a:r>
          </a:p>
          <a:p>
            <a:r>
              <a:t>\draw[alert] (decoy1) to[bend right=40] (blue_agent);</a:t>
            </a:r>
          </a:p>
          <a:p>
            <a:r>
              <a:t>\draw[alert] (ws2) to[bend right=25] (blue_agent);</a:t>
            </a:r>
          </a:p>
          <a:p>
            <a:r>
              <a:t>\draw[alert] (file) to[bend right=15] (blue_agent);</a:t>
            </a:r>
          </a:p>
          <a:p/>
          <a:p>
            <a:r>
              <a:t>% Environment boundary</a:t>
            </a:r>
          </a:p>
          <a:p>
            <a:r>
              <a:t>\draw[thick, black!30, rounded corners=10pt] </a:t>
            </a:r>
          </a:p>
          <a:p>
            <a:r>
              <a:t>    (-7,-2.5) rectangle (9,4.5);</a:t>
            </a:r>
          </a:p>
          <a:p>
            <a:r>
              <a:t>\node[above, font=\Large] at (1,4.3) {\textbf{Cyberwheel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Environment}};</a:t>
            </a:r>
          </a:p>
          <a:p/>
          <a:p>
            <a:r>
              <a:t>% Legend</a:t>
            </a:r>
          </a:p>
          <a:p>
            <a:r>
              <a:t>\node[draw=black!50, fill=white, rounded corners=3pt, </a:t>
            </a:r>
          </a:p>
          <a:p>
            <a:r>
              <a:t>      align=left, font=\tiny] at (-6,3.5) {</a:t>
            </a:r>
          </a:p>
          <a:p>
            <a:r>
              <a:t>    \textbf{Legend:}\\</a:t>
            </a:r>
          </a:p>
          <a:p>
            <a:r>
              <a:t>    \tikz\node[server,scale=0.5]{}; Server\\</a:t>
            </a:r>
          </a:p>
          <a:p>
            <a:r>
              <a:t>    \tikz\node[workstation,scale=0.5]{}; Workstation\\</a:t>
            </a:r>
          </a:p>
          <a:p>
            <a:r>
              <a:t>    \tikz\node[decoy,scale=0.5]{}; Decoy/Honeypot\\</a:t>
            </a:r>
          </a:p>
          <a:p>
            <a:r>
              <a:t>    \textcolor{red!70}{$\dashrightarrow$} Attack Path\\</a:t>
            </a:r>
          </a:p>
          <a:p>
            <a:r>
              <a:t>    \textcolor{blue!70}{$\rightarrow$} Defense Action\\</a:t>
            </a:r>
          </a:p>
          <a:p>
            <a:r>
              <a:t>    \textcolor{orange!70}{$\cdots\rightarrow$} Alert Signal</a:t>
            </a:r>
          </a:p>
          <a:p>
            <a:r>
              <a:t>};</a:t>
            </a:r>
          </a:p>
          <a:p/>
          <a:p>
            <a:r>
              <a:t>% Network stats</a:t>
            </a:r>
          </a:p>
          <a:p>
            <a:r>
              <a:t>\node[below, font=\footnotesize, gray!70] at (1,-2.2) {</a:t>
            </a:r>
          </a:p>
          <a:p>
            <a:r>
              <a:t>    \textbf{Network Scale:} 15-200 hosts | \textbf{Subnets:} 3-8 | \textbf{Decoys:} Dynamic deployment</a:t>
            </a:r>
          </a:p>
          <a:p>
            <a:r>
              <a:t>};</a:t>
            </a:r>
          </a:p>
          <a:p/>
          <a:p>
            <a:r>
              <a:t>\end{tikzpicture}</a:t>
            </a:r>
          </a:p>
          <a:p>
            <a:r>
              <a:t>\caption{Multi-agent cyber defense environment showing realistic network topology with Red agent attacks (dashed red arrows) and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Blue agent defensive decoy deployments (solid blue arrows). Alert signals (dotted orange) provide feedback for PPO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/>
          <a:p>
            <a:r>
              <a:t>\end{comment}</a:t>
            </a:r>
          </a:p>
          <a:p/>
          <a:p>
            <a:r>
              <a:t>\begin{comment}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draw=gray!50, fill=gray!8, minimum width=25mm, minimum height=15mm, thick, rounded corners=4pt, dashed},</a:t>
            </a:r>
          </a:p>
          <a:p>
            <a:r>
              <a:t>    agentRed/.style={rectangle, draw=red!70, fill=red!15, minimum width=22mm, minimum height=10mm, fon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t=\scriptsize, ultra thick, rounded corners=3pt},</a:t>
            </a:r>
          </a:p>
          <a:p>
            <a:r>
              <a:t>    agentBlue/.style={rectangle, draw=blue!70, fill=blue!15, minimum width=22mm, minimum height=10mm, font=\scriptsize, ultra thick, rounded corners=3pt},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internet/.style={cloud, cloud puffs=10, draw=green!60, fill=green!10, minimum width=15mm, thick, transform shape, yscale=0.6, shape border uses incircle,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6) {Internet};</a:t>
            </a:r>
          </a:p>
          <a:p/>
          <a:p>
            <a:r>
              <a:t>% Firewall</a:t>
            </a:r>
          </a:p>
          <a:p>
            <a:r>
              <a:t>\node[firewall] (firewall) at (-4, 6) {FW};</a:t>
            </a:r>
          </a:p>
          <a:p/>
          <a:p>
            <a:r>
              <a:t>% Subnets</a:t>
            </a:r>
          </a:p>
          <a:p>
            <a:r>
              <a:t>\node[subnet, label=below:{DMZ $N_1$}] (subnet1) at (-5, 4.5) {};</a:t>
            </a:r>
          </a:p>
          <a:p>
            <a:r>
              <a:t>\node[subnet, label=below:{Internal $N_2$}] (subnet2) at (-1, 4.5) {};</a:t>
            </a:r>
          </a:p>
          <a:p>
            <a:r>
              <a:t>\node[su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bnet, label=below:{Critical $N_3$}] (subnet3) at (3, 4.5) {};</a:t>
            </a:r>
          </a:p>
          <a:p/>
          <a:p>
            <a:r>
              <a:t>% Hosts</a:t>
            </a:r>
          </a:p>
          <a:p>
            <a:r>
              <a:t>\node[host] (h1) at (-5.6, 5) {$w_1$};</a:t>
            </a:r>
          </a:p>
          <a:p>
            <a:r>
              <a:t>\node[decoy] (d1) at (-4.4, 5) {$d_1$};</a:t>
            </a:r>
          </a:p>
          <a:p/>
          <a:p>
            <a:r>
              <a:t>\node[host] (h2) at (-1.6, 5) {$w_2$};</a:t>
            </a:r>
          </a:p>
          <a:p>
            <a:r>
              <a:t>\node[compromised] (h3) at (-0.4, 5) {$w_3$};</a:t>
            </a:r>
          </a:p>
          <a:p/>
          <a:p>
            <a:r>
              <a:t>\node[host] (h4) at (2.4, 5) {$w_4$};</a:t>
            </a:r>
          </a:p>
          <a:p>
            <a:r>
              <a:t>\node[host] (h5) at (3.6, 5) {$w_5$};</a:t>
            </a:r>
          </a:p>
          <a:p/>
          <a:p>
            <a:r>
              <a:t>% Network backbone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3.6) -- (-1, 3.6) -- (3, 3.6);</a:t>
            </a:r>
          </a:p>
          <a:p>
            <a:r>
              <a:t>\node[font=\scriptsize] at (-1, 3.3) {Internal Network};</a:t>
            </a:r>
          </a:p>
          <a:p/>
          <a:p>
            <a:r>
              <a:t>% Agents</a:t>
            </a:r>
          </a:p>
          <a:p>
            <a:r>
              <a:t>\node[agentRed, align=center] (red) at (-5, 1.5) {\textbf{Red Agent}\\\textbf{Fixed} $\pi^{(r)}$};</a:t>
            </a:r>
          </a:p>
          <a:p>
            <a:r>
              <a:t>\node[agentBlue, align=center] (blue) at (3, 1.5) {\textbf{Blue Agent}\\\textbf{PPO} $\pi^{(b)}$};</a:t>
            </a:r>
          </a:p>
          <a:p/>
          <a:p>
            <a:r>
              <a:t>% Interactions</a:t>
            </a:r>
          </a:p>
          <a:p>
            <a:r>
              <a:t>\draw[-&gt;, thick, blue!70] (blue) to[out=120, in=270] (d1) node[nea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 end, right, font=\tiny] {deploy};</a:t>
            </a:r>
          </a:p>
          <a:p>
            <a:r>
              <a:t>\draw[-&gt;, thick, red!70, dashed] (red) to[out=60, in=270] (h3) node[near end, left, font=\tiny] {attack};</a:t>
            </a:r>
          </a:p>
          <a:p/>
          <a:p>
            <a:r>
              <a:t>% State/Info</a:t>
            </a:r>
          </a:p>
          <a:p>
            <a:r>
              <a:t>\node[font=\tiny] at (-5, 0.8) {MITRE ATT\&amp;CK};</a:t>
            </a:r>
          </a:p>
          <a:p>
            <a:r>
              <a:t>\node[font=\tiny] at (3, 0.8) {$d_b = 2|\mathcal{W}| + 2$};</a:t>
            </a:r>
          </a:p>
          <a:p/>
          <a:p>
            <a:r>
              <a:t>% Rewards</a:t>
            </a:r>
          </a:p>
          <a:p>
            <a:r>
              <a:t>\node[rectangle, draw=orange!70, fill=orange!10, minimum width=45mm, rounded corners=3pt] at (-1, -0.5) (reward) {};</a:t>
            </a:r>
          </a:p>
          <a:p>
            <a:r>
              <a:t>\node[font=\scriptsize, align=center] at (reward.center) {\textbf{Adversarial Rewards}\\Blue: +15/-10 \quad Red: +10/-5};</a:t>
            </a:r>
          </a:p>
          <a:p/>
          <a:p>
            <a:r>
              <a:t>\draw[&lt;-&gt;, orange!70, thick] (red) -- (reward);</a:t>
            </a:r>
          </a:p>
          <a:p>
            <a:r>
              <a:t>\draw[&lt;-&gt;, orange!70, thick] (blue) -- (reward);</a:t>
            </a:r>
          </a:p>
          <a:p/>
          <a:p>
            <a:r>
              <a:t>% Legend box</a:t>
            </a:r>
          </a:p>
          <a:p>
            <a:r>
              <a:t>\node[rectangle, draw=black!40, fill=white, rounded corners=3pt, inner sep=2mm] at (6, 3) (legend) {};</a:t>
            </a:r>
          </a:p>
          <a:p>
            <a:r>
              <a:t>\node[font=\scriptsize, anchor=north west] at (legend.north west) {\tex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tbf{Legend}};</a:t>
            </a:r>
          </a:p>
          <a:p>
            <a:r>
              <a:t>\node[host] at (5.5, 2.6) {}; \node[right, font=\scriptsize] at (5.8, 2.6) {Clean Host};</a:t>
            </a:r>
          </a:p>
          <a:p>
            <a:r>
              <a:t>\node[decoy] at (5.5, 2.3) {}; \node[right, font=\scriptsize] at (5.8, 2.3) {Decoy Host};</a:t>
            </a:r>
          </a:p>
          <a:p>
            <a:r>
              <a:t>\node[compromised] at (5.5, 2.0) {}; \node[right, font=\scriptsize] at (5.8, 2.0) {Compromised};</a:t>
            </a:r>
          </a:p>
          <a:p/>
          <a:p>
            <a:r>
              <a:t>% Environment scale</a:t>
            </a:r>
          </a:p>
          <a:p>
            <a:r>
              <a:t>\node[font=\tiny, align=center] at (6, 1.3) {Scale:\\15--200 hosts\\3--8 subnets};</a:t>
            </a:r>
          </a:p>
          <a:p/>
          <a:p>
            <a:r>
              <a:t>\end{tikzpicture}</a:t>
            </a:r>
          </a:p>
          <a:p>
            <a:r>
              <a:t>\caption{Improved multi-agent cyber defense environment showing DMZ and internal subnets containing real assets and decoys. Red agent executes attacks with MITRE ATT\&amp;CK (dashed red arrows) while Blue agent learns optimal decoy deployment with PPO (solid blue arrows). Rewards provide feedback for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>
            <a:r>
              <a:t>\end{comment}</a:t>
            </a:r>
          </a:p>
          <a:p/>
          <a:p>
            <a:r>
              <a:t>\begin{comment}  </a:t>
            </a:r>
          </a:p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\end{captionblock}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node distance=1.5cm,</a:t>
            </a:r>
          </a:p>
          <a:p>
            <a:r>
              <a:t>    % Network Infrastructure</a:t>
            </a:r>
          </a:p>
          <a:p>
            <a:r>
              <a:t>    internet/.style={ellipse, draw=green!60, fill=green!10, minimum width=20mm, minimum height=12mm, thick, align=center, font=\scriptsize},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% Subnets</a:t>
            </a:r>
          </a:p>
          <a:p>
            <a:r>
              <a:t>    subnet/.style={rectangle, draw=gray!50, fill=gray!8, minimum width=25mm, minimum height=20mm, thick, rounded corners=4pt, dashed},</a:t>
            </a:r>
          </a:p>
          <a:p>
            <a:r>
              <a:t>    % Hosts and Decoys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d!70, fill=red!20, minimum size=7mm, font=\scriptsize, thick},</a:t>
            </a:r>
          </a:p>
          <a:p>
            <a:r>
              <a:t>    % Agents</a:t>
            </a:r>
          </a:p>
          <a:p>
            <a:r>
              <a:t>    agent/.style={rectangle, draw=purple!70, fill=purple!10, minimum width=28mm, minimum height=18mm, font=\scriptsize, thick, rounded corners=3pt, align=center},</a:t>
            </a:r>
          </a:p>
          <a:p>
            <a:r>
              <a:t>    % Reward system</a:t>
            </a:r>
          </a:p>
          <a:p>
            <a:r>
              <a:t>    reward/.style={rectangle, draw=orange!70, fill=orange!10, minimum width=45mm, minimum height=15mm, rounded corners=3pt, align=center}</a:t>
            </a:r>
          </a:p>
          <a:p>
            <a:r>
              <a:t>]</a:t>
            </a:r>
          </a:p>
          <a:p/>
          <a:p>
            <a:r>
              <a:t>% Network Infrastructure - Top level</a:t>
            </a:r>
          </a:p>
          <a:p>
            <a:r>
              <a:t>\node[internet] (internet) at (0, 6) {Internet};</a:t>
            </a:r>
          </a:p>
          <a:p>
            <a:r>
              <a:t>\node[firewall] (firewall) at (0, 4.5) {FW};</a:t>
            </a:r>
          </a:p>
          <a:p/>
          <a:p>
            <a:r>
              <a:t>% Subnets - Horizontal layout for width control</a:t>
            </a:r>
          </a:p>
          <a:p>
            <a:r>
              <a:t>\node[subnet] (dmz) at (-3, 2.5) {};</a:t>
            </a:r>
          </a:p>
          <a:p>
            <a:r>
              <a:t>\node[subnet] (internal) at (0, 2.5) {};</a:t>
            </a:r>
          </a:p>
          <a:p>
            <a:r>
              <a:t>\node[subnet] (critical) at (3, 2.5) {};</a:t>
            </a:r>
          </a:p>
          <a:p/>
          <a:p>
            <a:r>
              <a:t>% Subnet labels</a:t>
            </a:r>
          </a:p>
          <a:p>
            <a:r>
              <a:t>\node[font=\small] at (-3, 1.2) {DMZ N₁};</a:t>
            </a:r>
          </a:p>
          <a:p>
            <a:r>
              <a:t>\node[font=\small] at (0, 1.2) {Internal 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₂};</a:t>
            </a:r>
          </a:p>
          <a:p>
            <a:r>
              <a:t>\node[font=\small] at (3, 1.2) {Critical N₃};</a:t>
            </a:r>
          </a:p>
          <a:p/>
          <a:p>
            <a:r>
              <a:t>% Hosts within subnets</a:t>
            </a:r>
          </a:p>
          <a:p>
            <a:r>
              <a:t>\node[host] (w1) at (-3.5, 3) {w₁};</a:t>
            </a:r>
          </a:p>
          <a:p>
            <a:r>
              <a:t>\node[host] (w2) at (-2.5, 3) {w₂};</a:t>
            </a:r>
          </a:p>
          <a:p>
            <a:r>
              <a:t>\node[decoy] (d1) at (-3, 2) {d₁};</a:t>
            </a:r>
          </a:p>
          <a:p/>
          <a:p>
            <a:r>
              <a:t>\node[host] (w3) at (-0.5, 3) {w₃};</a:t>
            </a:r>
          </a:p>
          <a:p>
            <a:r>
              <a:t>\node[compromised] (w4) at (0.5, 3) {w₄ ⚠};</a:t>
            </a:r>
          </a:p>
          <a:p>
            <a:r>
              <a:t>\node[host] (w5) at (-0.5, 2) {w₅};</a:t>
            </a:r>
          </a:p>
          <a:p>
            <a:r>
              <a:t>\node[decoy] (d2) at (0.5, 2) {d₂};</a:t>
            </a:r>
          </a:p>
          <a:p/>
          <a:p>
            <a:r>
              <a:t>\node[host] (w6) at (2.5, 3) {w₆};</a:t>
            </a:r>
          </a:p>
          <a:p>
            <a:r>
              <a:t>\node[host] (w7) at (3.5, 3) {w₇};</a:t>
            </a:r>
          </a:p>
          <a:p>
            <a:r>
              <a:t>\node[decoy] (d3) at (3, 2) {d₃};</a:t>
            </a:r>
          </a:p>
          <a:p/>
          <a:p>
            <a:r>
              <a:t>% Network connections</a:t>
            </a:r>
          </a:p>
          <a:p>
            <a:r>
              <a:t>\draw[thick, gray!60] (internet) -- (firewall);</a:t>
            </a:r>
          </a:p>
          <a:p>
            <a:r>
              <a:t>\draw[thick, gray!60] (firewall) -- (-3, 1.8);</a:t>
            </a:r>
          </a:p>
          <a:p>
            <a:r>
              <a:t>\draw[thick, gray!60] (firewall) -- (0, 1.8);</a:t>
            </a:r>
          </a:p>
          <a:p>
            <a:r>
              <a:t>\draw[thick, gray!60] (firewall) -- (3, 1.8);</a:t>
            </a:r>
          </a:p>
          <a:p/>
          <a:p>
            <a:r>
              <a:t>% AI Agents - Positioned below network</a:t>
            </a:r>
          </a:p>
          <a:p>
            <a:r>
              <a:t>\node[agent, fill=red!15] (red) at (-2.5, 0) {\textbf{Red Agent}\\Policy: π⁽ʳ⁾ (Fixed)\\MITRE ATT\&amp;CK};</a:t>
            </a:r>
          </a:p>
          <a:p>
            <a:r>
              <a:t>\node[a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gent, fill=blue!15] (blue) at (2.5, 0) {\textbf{Blue Agent}\\Policy: π⁽ᵇ⁾ (PPO)\\Adaptive Defense};</a:t>
            </a:r>
          </a:p>
          <a:p/>
          <a:p/>
          <a:p>
            <a:r>
              <a:t>% Agent actions</a:t>
            </a:r>
          </a:p>
          <a:p>
            <a:r>
              <a:t>\draw[-&gt;, thick, red!70, dashed] (red) to[out=60, in=270] (w4) node[midway, left, font=\tiny] {exploit};</a:t>
            </a:r>
          </a:p>
          <a:p>
            <a:r>
              <a:t>\draw[-&gt;, thick, red!70, dashed] (red) to[out=90, in=270] (w6) node[midway, right, font=\tiny] {target};</a:t>
            </a:r>
          </a:p>
          <a:p>
            <a:r>
              <a:t>\draw[-&gt;, thick, blue!70] (blue) to[out=120, in=270] (d1) node[midway, right, font=\tiny] {deploy};</a:t>
            </a:r>
          </a:p>
          <a:p>
            <a:r>
              <a:t>\draw[-&gt;, thick, blue!70] (blue) to[out=150, in=270] (internal) node[midway, above, font=\tiny] {monitor};</a:t>
            </a:r>
          </a:p>
          <a:p/>
          <a:p>
            <a:r>
              <a:t>% Reward System - Bottom center</a:t>
            </a:r>
          </a:p>
          <a:p>
            <a:r>
              <a:t>\node[reward] (rewards) at (0, -1.8) {\textbf{Multi-Agent Game}\\Blue: +15/-10 (Detect/Miss)\\Red: +10/-5 (Breach/Caught)};</a:t>
            </a:r>
          </a:p>
          <a:p>
            <a:r>
              <a:t>% Learning connections</a:t>
            </a:r>
          </a:p>
          <a:p>
            <a:r>
              <a:t>\draw[&lt;-&gt;, orange!70, thick] (red.south) to[out=270, in=180] (rewards.west);</a:t>
            </a:r>
          </a:p>
          <a:p>
            <a:r>
              <a:t>\draw[&lt;-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&gt;, orange!70, thick] (blue.south) to[out=270, in=0] (rewards.east);</a:t>
            </a:r>
          </a:p>
          <a:p/>
          <a:p>
            <a:r>
              <a:t>% Styling</a:t>
            </a:r>
          </a:p>
          <a:p>
            <a:r>
              <a:t>\end{tikzpicture}</a:t>
            </a:r>
          </a:p>
          <a:p>
            <a:r>
              <a:t>\caption{Multi-agent cyber defense environment showing PPO-based blue agent learning strategic decoy deployment against a fixed red adversary. The network contains 6 real hosts and 3 decoys across three subnets, with adversarial rewards driving defensive policy optimization through game-theoretic interaction.}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>
            <a:r>
              <a:t>\end{comment}</a:t>
            </a:r>
          </a:p>
          <a:p/>
          <a:p>
            <a:r>
              <a:t>%\begin{figure}[H]</a:t>
            </a:r>
          </a:p>
          <a:p>
            <a:r>
              <a:t>%\centering</a:t>
            </a:r>
          </a:p>
          <a:p>
            <a:r>
              <a:t>%\includegraphics[width=0.8\textwidth]{figures/network_environment_mermaid.png}</a:t>
            </a:r>
          </a:p>
          <a:p>
            <a:r>
              <a:t>%\caption{Alternative visualization: Multi-agent cyber defense environment using Mermaid-style representation showing the same network topology with enhanced visual clarity.}</a:t>
            </a:r>
          </a:p>
          <a:p>
            <a:r>
              <a:t>%\label{fig:network_environment_mermaid}</a:t>
            </a:r>
          </a:p>
          <a:p>
            <a:r>
              <a:t>%\en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d{figure}</a:t>
            </a:r>
          </a:p>
          <a:p/>
          <a:p/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draw=gray!50, fill=gray!8, minimum width=25mm, minimum height=20mm, thick, rounded corners=4pt, dashed},</a:t>
            </a:r>
          </a:p>
          <a:p>
            <a:r>
              <a:t>    agentRed/.style={rectangle, draw=red!70, fill=red!15, minimum width=22mm, minimum height=12mm, font=\scriptsize, ultra thick, rounded corners=3pt},</a:t>
            </a:r>
          </a:p>
          <a:p>
            <a:r>
              <a:t>    agentBlue/.style={rectangle, draw=blue!70, fill=blue!15, minimum width=22mm, minimum height=12mm, font=\scriptsize, ultra thick, rounded 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orners=3pt},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internet/.style={ellipse, draw=green!60, fill=green!10, minimum width=20mm, minimum height=12mm, thick,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6.5) {Internet};</a:t>
            </a:r>
          </a:p>
          <a:p/>
          <a:p>
            <a:r>
              <a:t>% Firewall</a:t>
            </a:r>
          </a:p>
          <a:p>
            <a:r>
              <a:t>\node[firewall] (firewall) at (-4, 6.5) {FW};</a:t>
            </a:r>
          </a:p>
          <a:p/>
          <a:p>
            <a:r>
              <a:t>% Subnets - better spacing to avoid overlaps</a:t>
            </a:r>
          </a:p>
          <a:p>
            <a:r>
              <a:t>\node[subnet] (subnet1) at (-5, 4) {};</a:t>
            </a:r>
          </a:p>
          <a:p>
            <a:r>
              <a:t>\node[subnet] (subnet2) at (-1, 4) {};</a:t>
            </a:r>
          </a:p>
          <a:p>
            <a:r>
              <a:t>\node[subnet] (subnet3) at (3, 4) {};</a:t>
            </a:r>
          </a:p>
          <a:p/>
          <a:p>
            <a:r>
              <a:t>% Subnet labels - positioned clearly below subnets</a:t>
            </a:r>
          </a:p>
          <a:p>
            <a:r>
              <a:t>\node[font=\small] at (-5, 2.8) {DMZ $N_1$};</a:t>
            </a:r>
          </a:p>
          <a:p>
            <a:r>
              <a:t>\node[font=\small] at (-1, 2.8) {Internal $N_2$};</a:t>
            </a:r>
          </a:p>
          <a:p>
            <a:r>
              <a:t>\node[font=\small] at (3, 2.8) {Critical $N_3$};</a:t>
            </a:r>
          </a:p>
          <a:p/>
          <a:p>
            <a:r>
              <a:t>% Hosts - properly positioned withi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 subnets</a:t>
            </a:r>
          </a:p>
          <a:p>
            <a:r>
              <a:t>\node[host] (h1) at (-5.6, 4.3) {$w_1$};</a:t>
            </a:r>
          </a:p>
          <a:p>
            <a:r>
              <a:t>\node[decoy] (d1) at (-4.4, 4.3) {$d_1$};</a:t>
            </a:r>
          </a:p>
          <a:p/>
          <a:p>
            <a:r>
              <a:t>\node[host] (h2) at (-1.6, 4.3) {$w_2$};</a:t>
            </a:r>
          </a:p>
          <a:p>
            <a:r>
              <a:t>\node[compromised] (h3) at (-0.4, 4.3) {$w_3$};</a:t>
            </a:r>
          </a:p>
          <a:p/>
          <a:p>
            <a:r>
              <a:t>\node[host] (h4) at (2.4, 4.3) {$w_4$};</a:t>
            </a:r>
          </a:p>
          <a:p>
            <a:r>
              <a:t>\node[host] (h5) at (3.6, 4.3) {$w_5$};</a:t>
            </a:r>
          </a:p>
          <a:p/>
          <a:p>
            <a:r>
              <a:t>% Network backbone - adjusted positioning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3.2) -- (-1, 3.2) -- (3, 3.2);</a:t>
            </a:r>
          </a:p>
          <a:p/>
          <a:p>
            <a:r>
              <a:t>% Internal Network label - positioned to avoid subnet overlap</a:t>
            </a:r>
          </a:p>
          <a:p>
            <a:r>
              <a:t>\node[font=\small] at (-1, 2.4) {Internal Network};</a:t>
            </a:r>
          </a:p>
          <a:p/>
          <a:p>
            <a:r>
              <a:t>% Agents - positioned lower to avoid overlap</a:t>
            </a:r>
          </a:p>
          <a:p>
            <a:r>
              <a:t>\node[agentRed, align=center] (red) at (-5, 0.8) {\textbf{Red Agent}\\\textbf{Fixed} $\pi^{(r)}$};</a:t>
            </a:r>
          </a:p>
          <a:p>
            <a:r>
              <a:t>\node[agentBlue, align=center] (blue) at (3, 0.8) {\textbf{Blue Agent}\\\textbf{PPO} $\pi^{(b)}$};</a:t>
            </a:r>
          </a:p>
          <a:p/>
          <a:p>
            <a:r>
              <a:t>% Interaction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 with better label positioning</a:t>
            </a:r>
          </a:p>
          <a:p>
            <a:r>
              <a:t>\draw[-&gt;, thick, blue!70] (blue) to[out=120, in=270] (d1);</a:t>
            </a:r>
          </a:p>
          <a:p>
            <a:r>
              <a:t>\node[font=\tiny, blue!70] at (1.5, 2) {deploy};</a:t>
            </a:r>
          </a:p>
          <a:p/>
          <a:p>
            <a:r>
              <a:t>\draw[-&gt;, thick, red!70, dashed] (red) to[out=60, in=270] (h3);</a:t>
            </a:r>
          </a:p>
          <a:p>
            <a:r>
              <a:t>\node[font=\tiny, red!70] at (-2.5, 2) {attack};</a:t>
            </a:r>
          </a:p>
          <a:p/>
          <a:p>
            <a:r>
              <a:t>% State/Info - positioned to avoid overlap</a:t>
            </a:r>
          </a:p>
          <a:p>
            <a:r>
              <a:t>%\node[font=\tiny] at (-5, 0.1) {MITRE ATT\&amp;CK};</a:t>
            </a:r>
          </a:p>
          <a:p>
            <a:r>
              <a:t>%\node[font=\tiny, align=center] at (3, 0.1) {$d_b = %2|\mathcal{W}| + |\mathcal{N}||\mathcal{D}| + 2$};</a:t>
            </a:r>
          </a:p>
          <a:p/>
          <a:p>
            <a:r>
              <a:t>% Essential state info</a:t>
            </a:r>
          </a:p>
          <a:p>
            <a:r>
              <a:t>\node[font=\tiny] at (-5, 0.01) {MITRE ATT\&amp;CK};</a:t>
            </a:r>
          </a:p>
          <a:p>
            <a:r>
              <a:t>\node[font=\tiny] at (3, 0.01) {$d_b = 2|\mathcal{W}| + 2$};</a:t>
            </a:r>
          </a:p>
          <a:p/>
          <a:p>
            <a:r>
              <a:t>% Rewards - positioned lower</a:t>
            </a:r>
          </a:p>
          <a:p>
            <a:r>
              <a:t>\node[rectangle, draw=orange!70, fill=orange!10, minimum width=50mm, minimum height=15mm, rounded corners=3pt] (reward) at (-1, -1.2) {};</a:t>
            </a:r>
          </a:p>
          <a:p>
            <a:r>
              <a:t>\node[font=\small, align=center] at (reward.ce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nter) {\textbf{Adversarial Rewards}\\Blue: +15/-10 \quad Red: +10/-5};</a:t>
            </a:r>
          </a:p>
          <a:p/>
          <a:p>
            <a:r>
              <a:t>% Reward arrows</a:t>
            </a:r>
          </a:p>
          <a:p>
            <a:r>
              <a:t>\draw[&lt;-&gt;, orange!70, thick] (red.south) to[out=270, in=180] (reward.west);</a:t>
            </a:r>
          </a:p>
          <a:p>
            <a:r>
              <a:t>\draw[&lt;-&gt;, orange!70, thick] (blue.south) to[out=270, in=0] (reward.east);</a:t>
            </a:r>
          </a:p>
          <a:p/>
          <a:p>
            <a:r>
              <a:t>\node[font=\scriptsize] at (6, 3.5) {\textbf{Legend}};</a:t>
            </a:r>
          </a:p>
          <a:p>
            <a:r>
              <a:t>\node[host] at (5.2, 3.1) {}; \node[right, font=\scriptsize] at (5.5, 3.1) {Clean Host};</a:t>
            </a:r>
          </a:p>
          <a:p>
            <a:r>
              <a:t>\node[decoy] at (5.2, 2.8) {}; \node[right, font=\scriptsize] at (5.5, 2.8) {Decoy Host};</a:t>
            </a:r>
          </a:p>
          <a:p>
            <a:r>
              <a:t>\node[compromised] at (5.2, 2.5) {}; \node[right, font=\scriptsize] at (5.5, 2.5) {Compromised};</a:t>
            </a:r>
          </a:p>
          <a:p>
            <a:r>
              <a:t>%\node[firewall] at (5.2, 2.2) {}; \node[right, font=\scriptsize] at (5.5, 2.2) {Firewall};</a:t>
            </a:r>
          </a:p>
          <a:p/>
          <a:p>
            <a:r>
              <a:t>% Environment scale</a:t>
            </a:r>
          </a:p>
          <a:p>
            <a:r>
              <a:t>\node[font=\tiny, align=center] at (6, 1.5) {Scale:\\15-200 hosts\\3-8 subnets};</a:t>
            </a:r>
          </a:p>
          <a:p/>
          <a:p>
            <a:r>
              <a:t>\end{tikzpicture}</a:t>
            </a:r>
          </a:p>
          <a:p>
            <a:r>
              <a:t>\caption{Multi-a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gent cyber defense environment showing DMZ and internal subnets containing real assets and decoys. Red agent executes attacks with MITRE ATT\&amp;CK (dashed red arrows) while Blue agent learns optimal decoy deployment with PPO (solid blue arrows). Rewards provide feedback for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/>
          <a:p/>
          <a:p>
            <a:r>
              <a:t>\subsubsection{Mathematical Foundation}</a:t>
            </a:r>
          </a:p>
          <a:p>
            <a:r>
              <a:t>The network environment is represented as a directed graph $G = (V, E)$:</a:t>
            </a:r>
          </a:p>
          <a:p/>
          <a:p>
            <a:r>
              <a:t>\begin{align}</a:t>
            </a:r>
          </a:p>
          <a:p>
            <a:r>
              <a:t>G &amp;= (V, E) \text{ where } G = \text{nx.DiGraph}() \\</a:t>
            </a:r>
          </a:p>
          <a:p>
            <a:r>
              <a:t>V &amp;= \mathcal{W} \cup \mathcal{N} \cup \mathcal{G} \\</a:t>
            </a:r>
          </a:p>
          <a:p>
            <a:r>
              <a:t>E &amp;\subseteq V \times V</a:t>
            </a:r>
          </a:p>
          <a:p>
            <a:r>
              <a:t>\end{align}</a:t>
            </a:r>
          </a:p>
          <a:p/>
          <a:p>
            <a:r>
              <a:t>where $\mathcal{W}$ represents hosts (computers/devices), $\mathcal{N}$ represents subnets, $\mathcal{G}$ represents routers, and $E$ represents directed network connections.</a:t>
            </a:r>
          </a:p>
          <a:p/>
          <a:p>
            <a:r>
              <a:t>Each host $w_i \in \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mathcal{W}$ is characterized by a comprehensive state vector:</a:t>
            </a:r>
          </a:p>
          <a:p>
            <a:r>
              <a:t>\begin{equation}</a:t>
            </a:r>
          </a:p>
          <a:p>
            <a:r>
              <a:t>w_i = \langle \text{IP}_i, \text{OS}_i, \text{Services}_i, \text{Vulns}_i, \text{is\_compromised}_i, \text{decoy}_i \rangle</a:t>
            </a:r>
          </a:p>
          <a:p>
            <a:r>
              <a:t>\end{equation}</a:t>
            </a:r>
          </a:p>
          <a:p/>
          <a:p>
            <a:r>
              <a:t>where $\text{IP}_i$ is the IP address, $\text{OS}_i$ is the operating system, $\text{Services}_i$ are running services, $\text{Vulns}_i$ are vulnerabilities, $\text{is\_compromised}_i \in \{0,1\}$ indicates compromise status, and $\text{decoy}_i \in \{0,1\}$ indicates whether the host is a honeypot.</a:t>
            </a:r>
          </a:p>
          <a:p/>
          <a:p>
            <a:r>
              <a:t>\subsubsection{Implementation Details}</a:t>
            </a:r>
          </a:p>
          <a:p>
            <a:r>
              <a:t>\paragraph{The environment is implemented with these details.}The architecture uses \texttt{nx.DiGraph} directed graph structure with scale support for larger networks, the validated empirical range for this research covers 15-200 hosts. MI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TRE integration implements 7 kill-chain phase techniques following the ATT\&amp;CK methodology through YAML-driven modularity across all components.</a:t>
            </a:r>
          </a:p>
          <a:p/>
          <a:p>
            <a:r>
              <a:t>Having established the network environment representation, we now detail the specific agent implementations operating within this framework, beginning with the adversarial red agent.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