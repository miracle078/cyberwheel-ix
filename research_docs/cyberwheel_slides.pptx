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Adaptive Resource Placement for Cyber Defense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Better Protection Through Multi-Agent Reinforcement Learning</a:t>
            </a:r>
            <a:br/>
            <a:br/>
            <a:r>
              <a:rPr/>
              <a:t>Miracle Akanmode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September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 b="1"/>
                  <a:t>Adaptive Resource Placement</a:t>
                </a:r>
                <a:br/>
                <a:r>
                  <a:rPr b="1"/>
                  <a:t>for Cyber Defense</a:t>
                </a:r>
                <a:br/>
                <a:r>
                  <a:rPr/>
                  <a:t>Better Protection Through</a:t>
                </a:r>
                <a:br/>
                <a:r>
                  <a:rPr/>
                  <a:t>Multi-Agent Reinforcement Learning</a:t>
                </a:r>
                <a:br/>
                <a:r>
                  <a:rPr b="1"/>
                  <a:t>Miracle Akanmode</a:t>
                </a:r>
                <a:br/>
                <a:r>
                  <a:rPr/>
                  <a:t>Imperial-X</a:t>
                </a:r>
                <a:br/>
                <a:r>
                  <a:rPr/>
                  <a:t>Imperial College London</a:t>
                </a:r>
                <a:br/>
              </a:p>
              <a:p>
                <a:pPr lvl="0" indent="0" marL="0">
                  <a:buNone/>
                </a:pPr>
                <a:r>
                  <a:rPr/>
                  <a:t>Project Defense: September 2025</a:t>
                </a:r>
                <a:br/>
                <a:r>
                  <a:rPr/>
                  <a:t>Supervisor: Kelly Zhang</a:t>
                </a:r>
                <a:br/>
              </a:p>
              <a:p>
                <a:pPr lvl="0" indent="0" marL="0">
                  <a:buNone/>
                </a:pPr>
                <a:r>
                  <a:rPr/>
                  <a:t>miracle.akanmode24@imperial.ac.uk</a:t>
                </a:r>
              </a:p>
              <a:p>
                <a:pPr lvl="0" indent="0" marL="0">
                  <a:buNone/>
                </a:pPr>
                <a:r>
                  <a:rPr/>
                  <a:t>Research Overview</a:t>
                </a:r>
              </a:p>
              <a:p>
                <a:pPr lvl="0"/>
                <a:r>
                  <a:rPr b="1"/>
                  <a:t>Problem</a:t>
                </a:r>
                <a:r>
                  <a:rPr/>
                  <a:t>: Static cyber defenses fail against adaptive adversaries</a:t>
                </a:r>
              </a:p>
              <a:p>
                <a:pPr lvl="0"/>
                <a:r>
                  <a:rPr b="1"/>
                  <a:t>Approach</a:t>
                </a:r>
                <a:r>
                  <a:rPr/>
                  <a:t>: Multi-agent reinforcement learning for adaptive deception</a:t>
                </a:r>
              </a:p>
              <a:p>
                <a:pPr lvl="0"/>
                <a:r>
                  <a:rPr b="1"/>
                  <a:t>Solution</a:t>
                </a:r>
                <a:r>
                  <a:rPr/>
                  <a:t>: PPO-based agent learning optimal honeypot placement</a:t>
                </a:r>
              </a:p>
              <a:p>
                <a:pPr lvl="0"/>
                <a:r>
                  <a:rPr b="1"/>
                  <a:t>Result</a:t>
                </a:r>
                <a:r>
                  <a:rPr/>
                  <a:t>: </a:t>
                </a:r>
                <a:r>
                  <a:rPr b="1"/>
                  <a:t>89% performance improvement</a:t>
                </a:r>
                <a:r>
                  <a:rPr/>
                  <a:t> over baselines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Ancient War Strategy Quotes</a:t>
                </a:r>
              </a:p>
              <a:p>
                <a:pPr lvl="0" indent="0" marL="0">
                  <a:buNone/>
                </a:pPr>
                <a:r>
                  <a:rPr/>
                  <a:t>Sun Tzu Quotes</a:t>
                </a:r>
              </a:p>
              <a:p>
                <a:pPr lvl="0"/>
                <a:r>
                  <a:rPr/>
                  <a:t>“All warfare is based on deception.”</a:t>
                </a:r>
              </a:p>
              <a:p>
                <a:pPr lvl="0"/>
                <a:r>
                  <a:rPr/>
                  <a:t>“He will win who knows when to fight and when not to fight.”</a:t>
                </a:r>
              </a:p>
              <a:p>
                <a:pPr lvl="0"/>
                <a:r>
                  <a:rPr/>
                  <a:t>“The greatest victory is that which requires no battle.” — Sun Tzu, The Art of War.</a:t>
                </a:r>
              </a:p>
              <a:p>
                <a:pPr lvl="0" indent="0" marL="0">
                  <a:buNone/>
                </a:pPr>
                <a:r>
                  <a:rPr/>
                  <a:t>These quotes support our approach: creating uncertainty and choosing when to act are central to the defense agent’s strategy.</a:t>
                </a:r>
              </a:p>
              <a:p>
                <a:pPr lvl="0" indent="0" marL="0">
                  <a:buNone/>
                </a:pPr>
                <a:r>
                  <a:rPr/>
                  <a:t>Key Terms &amp; Concepts</a:t>
                </a:r>
              </a:p>
              <a:p>
                <a:pPr lvl="0" indent="0" marL="0">
                  <a:buNone/>
                </a:pPr>
                <a:r>
                  <a:rPr/>
                  <a:t>Learning by trial and reward feedback.</a:t>
                </a:r>
              </a:p>
              <a:p>
                <a:pPr lvl="0" indent="0" marL="0">
                  <a:buNone/>
                </a:pPr>
                <a:r>
                  <a:rPr/>
                  <a:t>The automated decision-maker (here: Blue agent).</a:t>
                </a:r>
              </a:p>
              <a:p>
                <a:pPr lvl="0" indent="0" marL="0">
                  <a:buNone/>
                </a:pPr>
                <a:r>
                  <a:rPr/>
                  <a:t>The simulated network in which agents act.</a:t>
                </a:r>
              </a:p>
              <a:p>
                <a:pPr lvl="0" indent="0" marL="0">
                  <a:buNone/>
                </a:pPr>
                <a:r>
                  <a:rPr/>
                  <a:t>Mapping from what the agent sees to actions.</a:t>
                </a:r>
              </a:p>
              <a:p>
                <a:pPr lvl="0" indent="0" marL="0">
                  <a:buNone/>
                </a:pPr>
                <a:r>
                  <a:rPr/>
                  <a:t>Numeric signal that guides learning (good/bad).</a:t>
                </a:r>
              </a:p>
              <a:p>
                <a:pPr lvl="0" indent="0" marL="0">
                  <a:buNone/>
                </a:pPr>
                <a:r>
                  <a:rPr/>
                  <a:t>A stable policy-optimisation algorithm used here.</a:t>
                </a:r>
              </a:p>
              <a:p>
                <a:pPr lvl="0" indent="0" marL="0">
                  <a:buNone/>
                </a:pPr>
                <a:r>
                  <a:rPr/>
                  <a:t>What the agent does (deploy/remove/wait).</a:t>
                </a:r>
              </a:p>
              <a:p>
                <a:pPr lvl="0" indent="0" marL="0">
                  <a:buNone/>
                </a:pPr>
                <a:r>
                  <a:rPr/>
                  <a:t>What the agent perceives about the network.</a:t>
                </a:r>
              </a:p>
              <a:p>
                <a:pPr lvl="0" indent="0" marL="0">
                  <a:buNone/>
                </a:pPr>
                <a:r>
                  <a:rPr/>
                  <a:t>Fake asset used to lure and study attackers.</a:t>
                </a:r>
              </a:p>
              <a:p>
                <a:pPr lvl="0" indent="0" marL="0">
                  <a:buNone/>
                </a:pPr>
                <a:r>
                  <a:rPr/>
                  <a:t>Red = attacker (fixed); Blue = defender (learning).</a:t>
                </a:r>
              </a:p>
              <a:p>
                <a:pPr lvl="0" indent="0" marL="0">
                  <a:buNone/>
                </a:pPr>
                <a:r>
                  <a:rPr/>
                  <a:t>Additional: MITRE ATT&amp;CK = standardised attacker techniques; "deception" = deliberate uncertainty creation to mislead attackers.</a:t>
                </a:r>
              </a:p>
              <a:p>
                <a:pPr lvl="0" indent="0" marL="0">
                  <a:buNone/>
                </a:pPr>
                <a:r>
                  <a:rPr/>
                  <a:t>The Cybersecurity Challenge</a:t>
                </a:r>
              </a:p>
              <a:p>
                <a:pPr lvl="0" indent="0" marL="0">
                  <a:buNone/>
                </a:pPr>
                <a:r>
                  <a:rPr b="1"/>
                  <a:t>Critical Challenges:</a:t>
                </a:r>
              </a:p>
              <a:p>
                <a:pPr lvl="0"/>
                <a:r>
                  <a:rPr b="1"/>
                  <a:t>Alert Fatigue</a:t>
                </a:r>
                <a:r>
                  <a:rPr/>
                  <a:t>: 4,000+ daily alerts, 67% ignored</a:t>
                </a:r>
              </a:p>
              <a:p>
                <a:pPr lvl="0"/>
                <a:r>
                  <a:rPr b="1"/>
                  <a:t>Asymmetric Warfare</a:t>
                </a:r>
                <a:r>
                  <a:rPr/>
                  <a:t>: Attackers need one success</a:t>
                </a:r>
              </a:p>
              <a:p>
                <a:pPr lvl="0"/>
                <a:r>
                  <a:rPr b="1"/>
                  <a:t>Static Defenses</a:t>
                </a:r>
                <a:r>
                  <a:rPr/>
                  <a:t>: Predictable patterns exploited</a:t>
                </a:r>
              </a:p>
              <a:p>
                <a:pPr lvl="0"/>
                <a:r>
                  <a:rPr b="1"/>
                  <a:t>Base-Rate Fallacy</a:t>
                </a:r>
                <a:r>
                  <a:rPr/>
                  <a:t>: Real threats missed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Our Solution </a:t>
                </a:r>
                <a:r>
                  <a:rPr b="1"/>
                  <a:t>Adaptive AI-driven deception</a:t>
                </a:r>
                <a:r>
                  <a:rPr/>
                  <a:t> that creates uncertainty for attackers through learned strategic honeypot placement</a:t>
                </a:r>
              </a:p>
              <a:p>
                <a:pPr lvl="0" indent="0" marL="0">
                  <a:buNone/>
                </a:pPr>
                <a:r>
                  <a:rPr/>
                  <a:t>Evolution of Cyber Defense</a:t>
                </a:r>
              </a:p>
              <a:p>
                <a:pPr lvl="0" indent="0" marL="0">
                  <a:buNone/>
                </a:pPr>
                <a:r>
                  <a:rPr/>
                  <a:t>Network and Agent Environment Overview</a:t>
                </a:r>
              </a:p>
              <a:p>
                <a:pPr lvl="0" indent="0" marL="0">
                  <a:buNone/>
                </a:pPr>
                <a:r>
                  <a:rPr/>
                  <a:t>max width=,max totalheight=0.78,center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PPO Training Architecture</a:t>
                </a:r>
              </a:p>
              <a:p>
                <a:pPr lvl="0" indent="0" marL="0">
                  <a:buNone/>
                </a:pPr>
                <a:r>
                  <a:rPr/>
                  <a:t>Key Features</a:t>
                </a:r>
              </a:p>
              <a:p>
                <a:pPr lvl="0"/>
                <a:r>
                  <a:rPr b="1"/>
                  <a:t>172-dimensional observation space</a:t>
                </a:r>
                <a:r>
                  <a:rPr/>
                  <a:t>: Alert history + network state + metadata</a:t>
                </a:r>
              </a:p>
              <a:p>
                <a:pPr lvl="0"/>
                <a:r>
                  <a:rPr b="1"/>
                  <a:t>Actor-critic framework</a:t>
                </a:r>
                <a:r>
                  <a:rPr/>
                  <a:t>: Stable policy optimization with value function guidance</a:t>
                </a:r>
              </a:p>
              <a:p>
                <a:pPr lvl="0"/>
                <a:r>
                  <a:rPr b="1"/>
                  <a:t>Strategic reward feedback</a:t>
                </a:r>
                <a:r>
                  <a:rPr/>
                  <a:t>: Learn optimal deception placement through experience</a:t>
                </a:r>
              </a:p>
              <a:p>
                <a:pPr lvl="0" indent="0" marL="0">
                  <a:buNone/>
                </a:pPr>
                <a:r>
                  <a:rPr/>
                  <a:t>RL Foundations (PPO — concise)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eqArr>
                        <m:e>
                          <m:r>
                            <m:t>&amp;</m:t>
                          </m:r>
                          <m:sSub>
                            <m:e>
                              <m:r>
                                <m:t>π</m:t>
                              </m:r>
                            </m:e>
                            <m:sub>
                              <m:r>
                                <m:t>θ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|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 </m:t>
                          </m:r>
                          <m:r>
                            <m:rPr>
                              <m:nor/>
                              <m:sty m:val="p"/>
                            </m:rPr>
                            <m:t>(actor / policy)</m:t>
                          </m:r>
                        </m:e>
                        <m:e>
                          <m:r>
                            <m:t>&amp;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 </m:t>
                          </m:r>
                          <m:r>
                            <m:rPr>
                              <m:nor/>
                              <m:sty m:val="p"/>
                            </m:rPr>
                            <m:t>(critic / value)</m:t>
                          </m:r>
                        </m:e>
                        <m:e>
                          <m:r>
                            <m:t>&amp;</m:t>
                          </m:r>
                          <m:sSub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f>
                            <m:fPr>
                              <m:type m:val="bar"/>
                            </m:fPr>
                            <m:num>
                              <m:sSub>
                                <m:e>
                                  <m:r>
                                    <m:t>π</m:t>
                                  </m:r>
                                </m:e>
                                <m:sub>
                                  <m:r>
                                    <m:t>θ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a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num>
                            <m:den>
                              <m:sSub>
                                <m:e>
                                  <m:r>
                                    <m:t>π</m:t>
                                  </m:r>
                                </m:e>
                                <m:sub>
                                  <m:sSub>
                                    <m:e>
                                      <m:r>
                                        <m:t>θ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  <m:sty m:val="p"/>
                                        </m:rPr>
                                        <m:t>old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m:t>a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|</m:t>
                              </m:r>
                              <m:sSub>
                                <m:e>
                                  <m:r>
                                    <m:t>s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den>
                          </m:f>
                        </m:e>
                        <m:e>
                          <m:r>
                            <m:t>&amp;</m:t>
                          </m:r>
                          <m:sSup>
                            <m:e>
                              <m:r>
                                <m:t>L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m:rPr>
                                  <m:scr m:val="double-struck"/>
                                  <m:sty m:val="p"/>
                                </m:rPr>
                                <m:t>E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d>
                            <m:dPr>
                              <m:begChr m:val="["/>
                              <m:sepChr m:val=""/>
                              <m:endChr m:val="]"/>
                              <m:grow/>
                            </m:dPr>
                            <m:e>
                              <m:r>
                                <m:rPr>
                                  <m:sty m:val="p"/>
                                </m:rPr>
                                <m:t>min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r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m:t>θ</m:t>
                                  </m:r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m:t> </m:t>
                                  </m:r>
                                  <m:sSub>
                                    <m:e>
                                      <m:acc>
                                        <m:accPr>
                                          <m:chr m:val="̂"/>
                                        </m:accPr>
                                        <m:e>
                                          <m:r>
                                            <m:t>A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 </m:t>
                                  </m:r>
                                  <m:r>
                                    <m:rPr>
                                      <m:sty m:val="p"/>
                                    </m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m:t>l</m:t>
                                  </m:r>
                                  <m:r>
                                    <m:rPr>
                                      <m:sty m:val="p"/>
                                    </m:rPr>
                                    <m:t>i</m:t>
                                  </m:r>
                                  <m:r>
                                    <m:rPr>
                                      <m:sty m:val="p"/>
                                    </m:rPr>
                                    <m:t>p</m:t>
                                  </m:r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sSub>
                                    <m:e>
                                      <m:r>
                                        <m:t>r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m:t>θ</m:t>
                                  </m:r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ϵ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m:t>+</m:t>
                                  </m:r>
                                  <m:r>
                                    <m:t>ϵ</m:t>
                                  </m:r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m:t> </m:t>
                                  </m:r>
                                  <m:sSub>
                                    <m:e>
                                      <m:acc>
                                        <m:accPr>
                                          <m:chr m:val="̂"/>
                                        </m:accPr>
                                        <m:e>
                                          <m:r>
                                            <m:t>A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e>
                          <m:r>
                            <m:t>&amp;</m:t>
                          </m:r>
                          <m:r>
                            <m:t>L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ϕ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p>
                            <m:e>
                              <m:r>
                                <m:t>L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θ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t> 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 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1</m:t>
                              </m:r>
                            </m:sub>
                          </m:sSub>
                          <m:r>
                            <m:t> 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2</m:t>
                              </m:r>
                            </m:sup>
                          </m:sSup>
                          <m:r>
                            <m:t> 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 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2</m:t>
                              </m:r>
                            </m:sub>
                          </m:sSub>
                          <m:r>
                            <m:t> </m:t>
                          </m:r>
                          <m:r>
                            <m:rPr>
                              <m:scr m:val="script"/>
                              <m:sty m:val="p"/>
                            </m:rPr>
                            <m:t>H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π</m:t>
                              </m:r>
                            </m:e>
                            <m:sub>
                              <m:r>
                                <m:t>θ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e>
                          <m:r>
                            <m:t>&amp;</m:t>
                          </m:r>
                          <m:r>
                            <m:rPr>
                              <m:nor/>
                              <m:sty m:val="p"/>
                            </m:rPr>
                            <m:t>GAE (compact): </m:t>
                          </m:r>
                          <m:r>
                            <m:t> </m:t>
                          </m:r>
                          <m:sSub>
                            <m:e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>A</m:t>
                                  </m:r>
                                </m:e>
                              </m:acc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subHide m:val="off"/>
                              <m:supHide m:val="off"/>
                            </m:naryPr>
                            <m:sub>
                              <m: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m:t>0</m:t>
                              </m:r>
                            </m:sub>
                            <m:sup>
                              <m: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1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</m:e>
                          </m:nary>
                          <m:r>
                            <m:t>γ</m:t>
                          </m:r>
                          <m:r>
                            <m:t>λ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sup>
                              <m:r>
                                <m:t>l</m:t>
                              </m:r>
                            </m:sup>
                          </m:sSup>
                          <m:sSub>
                            <m:e>
                              <m:r>
                                <m:t>δ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l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  </m:t>
                          </m:r>
                          <m:sSub>
                            <m:e>
                              <m:r>
                                <m:t>δ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γ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V</m:t>
                              </m:r>
                            </m:e>
                            <m:sub>
                              <m:r>
                                <m:t>ϕ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m:t>s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eqAr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Notes: clipping stabilises policy updates; value loss (c1) and entropy regulariser (c2) improve convergence.</a:t>
                </a:r>
              </a:p>
              <a:p>
                <a:pPr lvl="0" indent="0" marL="0">
                  <a:buNone/>
                </a:pPr>
                <a:r>
                  <a:rPr/>
                  <a:t>Key Results: 89% Performance Improvement</a:t>
                </a:r>
              </a:p>
              <a:p>
                <a:pPr lvl="0" indent="0" marL="0">
                  <a:buNone/>
                </a:pPr>
                <a:r>
                  <a:rPr b="1"/>
                  <a:t>Algorithm Performance:</a:t>
                </a:r>
              </a:p>
              <a:p>
                <a:pPr lvl="0" indent="0" marL="0">
                  <a:buNone/>
                </a:pPr>
                <a:r>
                  <a:rPr b="1"/>
                  <a:t>Security Effectiveness:</a:t>
                </a:r>
              </a:p>
              <a:p>
                <a:pPr lvl="0"/>
                <a:r>
                  <a:rPr b="1"/>
                  <a:t>89% improvement</a:t>
                </a:r>
                <a:r>
                  <a:rPr/>
                  <a:t> over static baseline</a:t>
                </a:r>
              </a:p>
              <a:p>
                <a:pPr lvl="0"/>
                <a:r>
                  <a:rPr b="1"/>
                  <a:t>73.2% deception success</a:t>
                </a:r>
                <a:r>
                  <a:rPr/>
                  <a:t> rate (vs 45.1% static)</a:t>
                </a:r>
              </a:p>
              <a:p>
                <a:pPr lvl="0"/>
                <a:r>
                  <a:rPr b="1"/>
                  <a:t>82.4% asset protection</a:t>
                </a:r>
                <a:r>
                  <a:rPr/>
                  <a:t> rate (vs 61.7% static)</a:t>
                </a:r>
              </a:p>
              <a:p>
                <a:pPr lvl="0"/>
                <a:r>
                  <a:rPr b="1"/>
                  <a:t>2.3 timestep</a:t>
                </a:r>
                <a:r>
                  <a:rPr/>
                  <a:t> detection latency (vs 4.1 static)</a:t>
                </a:r>
              </a:p>
              <a:p>
                <a:pPr lvl="0"/>
                <a:r>
                  <a:rPr b="1"/>
                  <a:t>92.3% correlation</a:t>
                </a:r>
                <a:r>
                  <a:rPr/>
                  <a:t> with MITRE ATT&amp;CK patterns</a:t>
                </a:r>
              </a:p>
              <a:p>
                <a:pPr lvl="0"/>
                <a:r>
                  <a:rPr b="1"/>
                  <a:t>84.8% defense success</a:t>
                </a:r>
                <a:r>
                  <a:rPr/>
                  <a:t> against real attacks</a:t>
                </a:r>
              </a:p>
              <a:p>
                <a:pPr lvl="0" indent="0" marL="0">
                  <a:buNone/>
                </a:pPr>
                <a:r>
                  <a:rPr/>
                  <a:t>Statistical Validation </a:t>
                </a:r>
                <a:r>
                  <a:rPr b="1"/>
                  <a:t>ANOVA p &lt; 0.001</a:t>
                </a:r>
                <a:r>
                  <a:rPr/>
                  <a:t>, Cohen’s d &gt; 0.8, 95% confidence intervals, 5-seed validation</a:t>
                </a:r>
              </a:p>
              <a:p>
                <a:pPr lvl="0" indent="0" marL="0">
                  <a:buNone/>
                </a:pPr>
                <a:r>
                  <a:rPr/>
                  <a:t>Learned Strategic Behaviors</a:t>
                </a:r>
              </a:p>
              <a:p>
                <a:pPr lvl="0" indent="0" marL="0">
                  <a:buNone/>
                </a:pPr>
                <a:r>
                  <a:rPr b="1"/>
                  <a:t>Emergent Intelligence:</a:t>
                </a:r>
              </a:p>
              <a:p>
                <a:pPr lvl="0"/>
                <a:r>
                  <a:rPr b="1"/>
                  <a:t>Balanced Strategy</a:t>
                </a:r>
                <a:r>
                  <a:rPr/>
                  <a:t>: 20.4% deploy, 19.2% remove, 60.4% wait</a:t>
                </a:r>
              </a:p>
              <a:p>
                <a:pPr lvl="0"/>
                <a:r>
                  <a:rPr b="1"/>
                  <a:t>Learned Restraint</a:t>
                </a:r>
                <a:r>
                  <a:rPr/>
                  <a:t>: Avoids over-deployment traps</a:t>
                </a:r>
              </a:p>
              <a:p>
                <a:pPr lvl="0"/>
                <a:r>
                  <a:rPr b="1"/>
                  <a:t>Superior Consistency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37.37</m:t>
                    </m:r>
                  </m:oMath>
                </a14:m>
                <a:r>
                  <a:rPr/>
                  <a:t> vs baseline variance</a:t>
                </a:r>
              </a:p>
              <a:p>
                <a:pPr lvl="0"/>
                <a:r>
                  <a:rPr b="1"/>
                  <a:t>Adaptive Timing</a:t>
                </a:r>
                <a:r>
                  <a:rPr/>
                  <a:t>: Strategic waiting periods</a:t>
                </a:r>
              </a:p>
              <a:p>
                <a:pPr lvl="0" indent="0" marL="0">
                  <a:buNone/>
                </a:pPr>
                <a:r>
                  <a:rPr b="1"/>
                  <a:t>Strategic Insights:</a:t>
                </a:r>
              </a:p>
              <a:p>
                <a:pPr lvl="0"/>
                <a:r>
                  <a:rPr/>
                  <a:t>Agent learns </a:t>
                </a:r>
                <a:r>
                  <a:rPr b="1"/>
                  <a:t>when NOT to act</a:t>
                </a:r>
                <a:r>
                  <a:rPr/>
                  <a:t> (patience)</a:t>
                </a:r>
              </a:p>
              <a:p>
                <a:pPr lvl="0"/>
                <a:r>
                  <a:rPr/>
                  <a:t>Balances resource costs vs security benefits</a:t>
                </a:r>
              </a:p>
              <a:p>
                <a:pPr lvl="0"/>
                <a:r>
                  <a:rPr/>
                  <a:t>Adapts to attacker patterns without explicit programming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Scalability Analysis</a:t>
                </a:r>
              </a:p>
              <a:p>
                <a:pPr lvl="0" indent="0" marL="0">
                  <a:buNone/>
                </a:pPr>
                <a:r>
                  <a:rPr/>
                  <a:t>Real-World Validation</a:t>
                </a:r>
              </a:p>
              <a:p>
                <a:pPr lvl="0" indent="0" marL="0">
                  <a:buNone/>
                </a:pPr>
                <a:r>
                  <a:rPr b="1"/>
                  <a:t>MITRE ATT&amp;CK Integration:</a:t>
                </a:r>
              </a:p>
              <a:p>
                <a:pPr lvl="0"/>
                <a:r>
                  <a:rPr b="1"/>
                  <a:t>295 attack techniques</a:t>
                </a:r>
                <a:r>
                  <a:rPr/>
                  <a:t> implemented</a:t>
                </a:r>
              </a:p>
              <a:p>
                <a:pPr lvl="0"/>
                <a:r>
                  <a:rPr b="1"/>
                  <a:t>92.3% behavioral correlation</a:t>
                </a:r>
                <a:r>
                  <a:rPr/>
                  <a:t> with real patterns</a:t>
                </a:r>
              </a:p>
              <a:p>
                <a:pPr lvl="0"/>
                <a:r>
                  <a:rPr b="1"/>
                  <a:t>Complete kill chain</a:t>
                </a:r>
                <a:r>
                  <a:rPr/>
                  <a:t> coverage (4 phases)</a:t>
                </a:r>
              </a:p>
              <a:p>
                <a:pPr lvl="0"/>
                <a:r>
                  <a:rPr b="1"/>
                  <a:t>Atomic Red Team</a:t>
                </a:r>
                <a:r>
                  <a:rPr/>
                  <a:t> validation</a:t>
                </a:r>
              </a:p>
              <a:p>
                <a:pPr lvl="0" indent="0" marL="0">
                  <a:buNone/>
                </a:pPr>
                <a:r>
                  <a:rPr b="1"/>
                  <a:t>Attack Defense Success:</a:t>
                </a:r>
              </a:p>
              <a:p>
                <a:pPr lvl="0"/>
                <a:r>
                  <a:rPr b="1"/>
                  <a:t>84.8% success rate</a:t>
                </a:r>
                <a:r>
                  <a:rPr/>
                  <a:t> against real attack commands</a:t>
                </a:r>
              </a:p>
              <a:p>
                <a:pPr lvl="0"/>
                <a:r>
                  <a:rPr b="1"/>
                  <a:t>Early disruption</a:t>
                </a:r>
                <a:r>
                  <a:rPr/>
                  <a:t>: 2.3 timestep detection</a:t>
                </a:r>
              </a:p>
              <a:p>
                <a:pPr lvl="0"/>
                <a:r>
                  <a:rPr b="1"/>
                  <a:t>Proactive defense</a:t>
                </a:r>
                <a:r>
                  <a:rPr/>
                  <a:t>: Uncertainty creation vs reactive response</a:t>
                </a:r>
              </a:p>
              <a:p>
                <a:pPr lvl="0" indent="0" marL="0">
                  <a:buNone/>
                </a:pPr>
                <a:r>
                  <a:rPr/>
                  <a:t>image</a:t>
                </a:r>
              </a:p>
              <a:p>
                <a:pPr lvl="0" indent="0" marL="0">
                  <a:buNone/>
                </a:pPr>
                <a:r>
                  <a:rPr/>
                  <a:t>Practical Deployment Ready </a:t>
                </a:r>
                <a:r>
                  <a:rPr b="1"/>
                  <a:t>Enterprise-scale validation</a:t>
                </a:r>
                <a:r>
                  <a:rPr/>
                  <a:t> with realistic attack patterns and </a:t>
                </a:r>
                <a:r>
                  <a:rPr b="1"/>
                  <a:t>consistent cross-scale performance</a:t>
                </a:r>
              </a:p>
              <a:p>
                <a:pPr lvl="0" indent="0" marL="0">
                  <a:buNone/>
                </a:pPr>
                <a:r>
                  <a:rPr/>
                  <a:t>Research Methodology</a:t>
                </a:r>
              </a:p>
              <a:p>
                <a:pPr lvl="0" indent="0" marL="0">
                  <a:buNone/>
                </a:pPr>
                <a:r>
                  <a:rPr b="1"/>
                  <a:t>Experimental Framework:</a:t>
                </a:r>
              </a:p>
              <a:p>
                <a:pPr lvl="0"/>
                <a:r>
                  <a:rPr b="1"/>
                  <a:t>Multi-Agent Setup</a:t>
                </a:r>
                <a:r>
                  <a:rPr/>
                  <a:t>: Learning blue vs fixed red (295 techniques)</a:t>
                </a:r>
              </a:p>
              <a:p>
                <a:pPr lvl="0"/>
                <a:r>
                  <a:rPr b="1"/>
                  <a:t>Networks</a:t>
                </a:r>
                <a:r>
                  <a:rPr/>
                  <a:t>: 15-200 hosts, realistic enterprise topologies</a:t>
                </a:r>
              </a:p>
              <a:p>
                <a:pPr lvl="0"/>
                <a:r>
                  <a:rPr b="1"/>
                  <a:t>Training</a:t>
                </a:r>
                <a:r>
                  <a:rPr/>
                  <a:t>: 10M timesteps, 5 random seeds</a:t>
                </a:r>
              </a:p>
              <a:p>
                <a:pPr lvl="0"/>
                <a:r>
                  <a:rPr b="1"/>
                  <a:t>Baselines</a:t>
                </a:r>
                <a:r>
                  <a:rPr/>
                  <a:t>: Static, Rule-based, Random, Inactive</a:t>
                </a:r>
              </a:p>
              <a:p>
                <a:pPr lvl="0" indent="0" marL="0">
                  <a:buNone/>
                </a:pPr>
                <a:r>
                  <a:rPr b="1"/>
                  <a:t>Statistical Rigor:</a:t>
                </a:r>
              </a:p>
              <a:p>
                <a:pPr lvl="0"/>
                <a:r>
                  <a:rPr b="1"/>
                  <a:t>ANOVA</a:t>
                </a:r>
                <a:r>
                  <a:rPr/>
                  <a:t>: p &lt; 0.001 significance</a:t>
                </a:r>
              </a:p>
              <a:p>
                <a:pPr lvl="0"/>
                <a:r>
                  <a:rPr b="1"/>
                  <a:t>Effect Size</a:t>
                </a:r>
                <a:r>
                  <a:rPr/>
                  <a:t>: Cohen’s d &gt; 0.8 (large)</a:t>
                </a:r>
              </a:p>
              <a:p>
                <a:pPr lvl="0"/>
                <a:r>
                  <a:rPr b="1"/>
                  <a:t>Confidence</a:t>
                </a:r>
                <a:r>
                  <a:rPr/>
                  <a:t>: 95% intervals</a:t>
                </a:r>
              </a:p>
              <a:p>
                <a:pPr lvl="0"/>
                <a:r>
                  <a:rPr b="1"/>
                  <a:t>Reproducibility</a:t>
                </a:r>
                <a:r>
                  <a:rPr/>
                  <a:t>: 5-seed validation</a:t>
                </a:r>
              </a:p>
              <a:p>
                <a:pPr lvl="0" indent="0" marL="0">
                  <a:buNone/>
                </a:pPr>
                <a:r>
                  <a:rPr b="1"/>
                  <a:t>Novel Contributions: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First systematic PPO validation</a:t>
                </a:r>
                <a:r>
                  <a:rPr/>
                  <a:t> for cyber deception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Real-world MITRE integration</a:t>
                </a:r>
                <a:r>
                  <a:rPr/>
                  <a:t> with 92.3% fidelity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Scalability characterization</a:t>
                </a:r>
                <a:r>
                  <a:rPr/>
                  <a:t> across enterprise networks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Strategic behavior analysis</a:t>
                </a:r>
                <a:r>
                  <a:rPr/>
                  <a:t> revealing emergent intelligence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Reproducible methodology</a:t>
                </a:r>
                <a:r>
                  <a:rPr/>
                  <a:t> with open protocols</a:t>
                </a:r>
              </a:p>
              <a:p>
                <a:pPr lvl="0" indent="0" marL="0">
                  <a:buNone/>
                </a:pPr>
                <a:r>
                  <a:rPr b="1"/>
                  <a:t>Research Questions Answered:</a:t>
                </a:r>
              </a:p>
              <a:p>
                <a:pPr lvl="0"/>
                <a:r>
                  <a:rPr/>
                  <a:t>PPO effectively learns adaptive strategies</a:t>
                </a:r>
              </a:p>
              <a:p>
                <a:pPr lvl="0"/>
                <a:r>
                  <a:rPr/>
                  <a:t>89% improvement over traditional baselines</a:t>
                </a:r>
              </a:p>
              <a:p>
                <a:pPr lvl="0"/>
                <a:r>
                  <a:rPr/>
                  <a:t>Strategic behaviors emerge and scale robustly</a:t>
                </a:r>
              </a:p>
              <a:p>
                <a:pPr lvl="0" indent="0" marL="0">
                  <a:buNone/>
                </a:pPr>
                <a:r>
                  <a:rPr/>
                  <a:t>Future Directions &amp; Impact</a:t>
                </a:r>
              </a:p>
              <a:p>
                <a:pPr lvl="0" indent="0" marL="0">
                  <a:buNone/>
                </a:pPr>
                <a:r>
                  <a:rPr b="1"/>
                  <a:t>Research Extensions:</a:t>
                </a:r>
              </a:p>
              <a:p>
                <a:pPr lvl="0"/>
                <a:r>
                  <a:rPr/>
                  <a:t>Real-world deployment in operational environments</a:t>
                </a:r>
              </a:p>
              <a:p>
                <a:pPr lvl="0"/>
                <a:r>
                  <a:rPr/>
                  <a:t>Adversarial co-evolution with learning attackers (self-play)</a:t>
                </a:r>
              </a:p>
              <a:p>
                <a:pPr lvl="0"/>
                <a:r>
                  <a:rPr/>
                  <a:t>Multi-defender coordination across distributed networks</a:t>
                </a:r>
              </a:p>
              <a:p>
                <a:pPr lvl="0"/>
                <a:r>
                  <a:rPr/>
                  <a:t>Integration with existing security infrastructure (SIEM, EDR)</a:t>
                </a:r>
              </a:p>
              <a:p>
                <a:pPr lvl="0"/>
                <a:r>
                  <a:rPr/>
                  <a:t>Explainable AI for analyst understanding and trust</a:t>
                </a:r>
              </a:p>
              <a:p>
                <a:pPr lvl="0" indent="0" marL="0">
                  <a:buNone/>
                </a:pPr>
                <a:r>
                  <a:rPr b="1"/>
                  <a:t>Technical Advances:</a:t>
                </a:r>
              </a:p>
              <a:p>
                <a:pPr lvl="0"/>
                <a:r>
                  <a:rPr/>
                  <a:t>Advanced reward shaping for complex scenarios</a:t>
                </a:r>
              </a:p>
              <a:p>
                <a:pPr lvl="0"/>
                <a:r>
                  <a:rPr/>
                  <a:t>Transfer learning across network topologies</a:t>
                </a:r>
              </a:p>
              <a:p>
                <a:pPr lvl="0"/>
                <a:r>
                  <a:rPr/>
                  <a:t>Real-time adaptation to novel attack patterns</a:t>
                </a:r>
              </a:p>
              <a:p>
                <a:pPr lvl="0" indent="0" marL="0">
                  <a:buNone/>
                </a:pPr>
                <a:r>
                  <a:rPr/>
                  <a:t>Broader Impact This work establishes reinforcement learning as a viable approach for automated cybersecurity defense with rigorous experimental validation.</a:t>
                </a:r>
              </a:p>
              <a:p>
                <a:pPr lvl="0" indent="0" marL="0">
                  <a:buNone/>
                </a:pPr>
                <a:r>
                  <a:rPr/>
                  <a:t>Key Takeaways</a:t>
                </a:r>
              </a:p>
              <a:p>
                <a:pPr lvl="0"/>
                <a:r>
                  <a:rPr/>
                  <a:t>AI successfully learns sophisticated adaptive defense strategies</a:t>
                </a:r>
              </a:p>
              <a:p>
                <a:pPr lvl="0"/>
                <a:r>
                  <a:rPr b="1"/>
                  <a:t>89% improvement</a:t>
                </a:r>
                <a:r>
                  <a:rPr/>
                  <a:t> demonstrates clear superiority</a:t>
                </a:r>
              </a:p>
              <a:p>
                <a:pPr lvl="0"/>
                <a:r>
                  <a:rPr/>
                  <a:t>Strategic restraint emerges naturally without explicit programming</a:t>
                </a:r>
              </a:p>
              <a:p>
                <a:pPr lvl="0"/>
                <a:r>
                  <a:rPr/>
                  <a:t>Performance scales robustly to enterprise networks</a:t>
                </a:r>
              </a:p>
              <a:p>
                <a:pPr lvl="0"/>
                <a:r>
                  <a:rPr/>
                  <a:t>Real attack correlation validates deployment readiness</a:t>
                </a:r>
              </a:p>
              <a:p>
                <a:pPr lvl="0" indent="0" marL="0">
                  <a:buNone/>
                </a:pPr>
                <a:r>
                  <a:rPr/>
                  <a:t>Conclusions</a:t>
                </a:r>
              </a:p>
              <a:p>
                <a:pPr lvl="0" indent="0" marL="0">
                  <a:buNone/>
                </a:pPr>
                <a:r>
                  <a:rPr b="1"/>
                  <a:t>Adaptive AI-Driven Cyber Defense Works</a:t>
                </a:r>
              </a:p>
              <a:p>
                <a:pPr lvl="0" indent="0" marL="0">
                  <a:buNone/>
                </a:pPr>
                <a:r>
                  <a:rPr/>
                  <a:t>Performance</a:t>
                </a:r>
              </a:p>
              <a:p>
                <a:pPr lvl="0" indent="0" marL="0">
                  <a:buNone/>
                </a:pPr>
                <a:r>
                  <a:rPr b="1"/>
                  <a:t>89%</a:t>
                </a:r>
                <a:br/>
                <a:r>
                  <a:rPr b="1"/>
                  <a:t>Improvement</a:t>
                </a:r>
                <a:br/>
                <a:r>
                  <a:rPr/>
                  <a:t>over static baselines</a:t>
                </a:r>
              </a:p>
              <a:p>
                <a:pPr lvl="0" indent="0" marL="0">
                  <a:buNone/>
                </a:pPr>
                <a:r>
                  <a:rPr/>
                  <a:t>Intelligence</a:t>
                </a:r>
              </a:p>
              <a:p>
                <a:pPr lvl="0" indent="0" marL="0">
                  <a:buNone/>
                </a:pPr>
                <a:r>
                  <a:rPr b="1"/>
                  <a:t>Strategic</a:t>
                </a:r>
                <a:br/>
                <a:r>
                  <a:rPr b="1"/>
                  <a:t>Behaviors</a:t>
                </a:r>
                <a:br/>
                <a:r>
                  <a:rPr/>
                  <a:t>emerge naturally</a:t>
                </a:r>
              </a:p>
              <a:p>
                <a:pPr lvl="0" indent="0" marL="0">
                  <a:buNone/>
                </a:pPr>
                <a:r>
                  <a:rPr/>
                  <a:t>Scale</a:t>
                </a:r>
              </a:p>
              <a:p>
                <a:pPr lvl="0" indent="0" marL="0">
                  <a:buNone/>
                </a:pPr>
                <a:r>
                  <a:rPr b="1"/>
                  <a:t>Enterprise</a:t>
                </a:r>
                <a:br/>
                <a:r>
                  <a:rPr b="1"/>
                  <a:t>Ready</a:t>
                </a:r>
                <a:br/>
                <a:r>
                  <a:rPr/>
                  <a:t>15-200 hosts validated</a:t>
                </a:r>
              </a:p>
              <a:p>
                <a:pPr lvl="0" indent="0" marL="0">
                  <a:buNone/>
                </a:pPr>
                <a:r>
                  <a:rPr/>
                  <a:t>Research Impact </a:t>
                </a:r>
                <a:r>
                  <a:rPr b="1"/>
                  <a:t>First rigorous validation</a:t>
                </a:r>
                <a:r>
                  <a:rPr/>
                  <a:t> of reinforcement learning for cybersecurity deception with </a:t>
                </a:r>
                <a:r>
                  <a:rPr b="1"/>
                  <a:t>real-world attack correlation</a:t>
                </a:r>
                <a:r>
                  <a:rPr/>
                  <a:t> and </a:t>
                </a:r>
                <a:r>
                  <a:rPr b="1"/>
                  <a:t>enterprise-scale deployment readiness</a:t>
                </a:r>
              </a:p>
              <a:p>
                <a:pPr lvl="0" indent="0" marL="0">
                  <a:buNone/>
                </a:pPr>
                <a:r>
                  <a:rPr b="1"/>
                  <a:t>Questions?</a:t>
                </a:r>
                <a:br/>
                <a:r>
                  <a:rPr/>
                  <a:t>miracle.akanmode24@imperial.ac.uk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Resource Placement for Cyber Defense</dc:title>
  <dc:creator>Miracle Akanmode</dc:creator>
  <cp:keywords/>
  <dcterms:created xsi:type="dcterms:W3CDTF">2025-09-15T15:02:11Z</dcterms:created>
  <dcterms:modified xsi:type="dcterms:W3CDTF">2025-09-15T15:02:11Z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September 2025</vt:lpwstr>
  </property>
  <property fmtid="{D5CDD505-2E9C-101B-9397-08002B2CF9AE}" pid="3" name="subtitle">
    <vt:lpwstr>Better Protection Through Multi-Agent Reinforcement Learning</vt:lpwstr>
  </property>
</Properties>
</file>