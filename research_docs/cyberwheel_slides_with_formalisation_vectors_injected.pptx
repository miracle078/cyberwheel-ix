
<file path=[Content_Types].xml><?xml version="1.0" encoding="utf-8"?>
<ns0:Types xmlns:ns0="http://schemas.openxmlformats.org/package/2006/content-types">
  <ns0:Default Extension="bin" ContentType="application/vnd.openxmlformats-officedocument.presentationml.printerSettings"/>
  <ns0:Default Extension="jpeg" ContentType="image/jpe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slides/slide15.xml" ContentType="application/vnd.openxmlformats-officedocument.presentationml.slide+xml"/>
  <ns0:Override PartName="/ppt/slides/slide16.xml" ContentType="application/vnd.openxmlformats-officedocument.presentationml.slide+xml"/>
  <ns0:Override PartName="/ppt/slides/slide17.xml" ContentType="application/vnd.openxmlformats-officedocument.presentationml.slide+xml"/>
  <ns0:Override PartName="/ppt/slides/slide18.xml" ContentType="application/vnd.openxmlformats-officedocument.presentationml.slide+xml"/>
  <ns0:Override PartName="/ppt/slides/slide19.xml" ContentType="application/vnd.openxmlformats-officedocument.presentationml.slide+xml"/>
  <ns0:Override PartName="/ppt/slides/slide2.xml" ContentType="application/vnd.openxmlformats-officedocument.presentationml.slide+xml"/>
  <ns0:Override PartName="/ppt/slides/slide20.xml" ContentType="application/vnd.openxmlformats-officedocument.presentationml.slide+xml"/>
  <ns0:Override PartName="/ppt/slides/slide21.xml" ContentType="application/vnd.openxmlformats-officedocument.presentationml.slide+xml"/>
  <ns0:Override PartName="/ppt/slides/slide22.xml" ContentType="application/vnd.openxmlformats-officedocument.presentationml.slide+xml"/>
  <ns0:Override PartName="/ppt/slides/slide23.xml" ContentType="application/vnd.openxmlformats-officedocument.presentationml.slide+xml"/>
  <ns0:Override PartName="/ppt/slides/slide24.xml" ContentType="application/vnd.openxmlformats-officedocument.presentationml.slide+xml"/>
  <ns0:Override PartName="/ppt/slides/slide25.xml" ContentType="application/vnd.openxmlformats-officedocument.presentationml.slide+xml"/>
  <ns0:Override PartName="/ppt/slides/slide26.xml" ContentType="application/vnd.openxmlformats-officedocument.presentationml.slide+xml"/>
  <ns0:Override PartName="/ppt/slides/slide27.xml" ContentType="application/vnd.openxmlformats-officedocument.presentationml.slide+xml"/>
  <ns0:Override PartName="/ppt/slides/slide28.xml" ContentType="application/vnd.openxmlformats-officedocument.presentationml.slide+xml"/>
  <ns0:Override PartName="/ppt/slides/slide29.xml" ContentType="application/vnd.openxmlformats-officedocument.presentationml.slide+xml"/>
  <ns0:Override PartName="/ppt/slides/slide3.xml" ContentType="application/vnd.openxmlformats-officedocument.presentationml.slide+xml"/>
  <ns0:Override PartName="/ppt/slides/slide30.xml" ContentType="application/vnd.openxmlformats-officedocument.presentationml.slide+xml"/>
  <ns0:Override PartName="/ppt/slides/slide31.xml" ContentType="application/vnd.openxmlformats-officedocument.presentationml.slide+xml"/>
  <ns0:Override PartName="/ppt/slides/slide32.xml" ContentType="application/vnd.openxmlformats-officedocument.presentationml.slide+xml"/>
  <ns0:Override PartName="/ppt/slides/slide33.xml" ContentType="application/vnd.openxmlformats-officedocument.presentationml.slide+xml"/>
  <ns0:Override PartName="/ppt/slides/slide34.xml" ContentType="application/vnd.openxmlformats-officedocument.presentationml.slide+xml"/>
  <ns0:Override PartName="/ppt/slides/slide35.xml" ContentType="application/vnd.openxmlformats-officedocument.presentationml.slide+xml"/>
  <ns0:Override PartName="/ppt/slides/slide36.xml" ContentType="application/vnd.openxmlformats-officedocument.presentationml.slide+xml"/>
  <ns0:Override PartName="/ppt/slides/slide37.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printerSettings" Target="printerSettings/printerSettings1.bin" /><ns0:Relationship Id="rId3" Type="http://schemas.openxmlformats.org/officeDocument/2006/relationships/presProps" Target="presProps.xml" /><ns0:Relationship Id="rId4" Type="http://schemas.openxmlformats.org/officeDocument/2006/relationships/viewProps" Target="viewProps.xml" /><ns0:Relationship Id="rId5" Type="http://schemas.openxmlformats.org/officeDocument/2006/relationships/theme" Target="theme/theme1.xml" /><ns0:Relationship Id="rId6" Type="http://schemas.openxmlformats.org/officeDocument/2006/relationships/tableStyles" Target="tableStyles.xml" /><ns0:Relationship Id="rId7" Type="http://schemas.openxmlformats.org/officeDocument/2006/relationships/slide" Target="slides/slide1.xml" /><ns0:Relationship Id="rId8" Type="http://schemas.openxmlformats.org/officeDocument/2006/relationships/slide" Target="slides/slide2.xml" /><ns0:Relationship Id="rId9" Type="http://schemas.openxmlformats.org/officeDocument/2006/relationships/slide" Target="slides/slide3.xml" /><ns0:Relationship Id="rId10" Type="http://schemas.openxmlformats.org/officeDocument/2006/relationships/slide" Target="slides/slide4.xml" /><ns0:Relationship Id="rId11" Type="http://schemas.openxmlformats.org/officeDocument/2006/relationships/slide" Target="slides/slide5.xml" /><ns0:Relationship Id="rId12" Type="http://schemas.openxmlformats.org/officeDocument/2006/relationships/slide" Target="slides/slide6.xml" /><ns0:Relationship Id="rId13" Type="http://schemas.openxmlformats.org/officeDocument/2006/relationships/slide" Target="slides/slide7.xml" /><ns0:Relationship Id="rId14" Type="http://schemas.openxmlformats.org/officeDocument/2006/relationships/slide" Target="slides/slide8.xml" /><ns0:Relationship Id="rId15" Type="http://schemas.openxmlformats.org/officeDocument/2006/relationships/slide" Target="slides/slide9.xml" /><ns0:Relationship Id="rId16" Type="http://schemas.openxmlformats.org/officeDocument/2006/relationships/slide" Target="slides/slide10.xml" /><ns0:Relationship Id="rId17" Type="http://schemas.openxmlformats.org/officeDocument/2006/relationships/slide" Target="slides/slide11.xml" /><ns0:Relationship Id="rId18" Type="http://schemas.openxmlformats.org/officeDocument/2006/relationships/slide" Target="slides/slide12.xml" /><ns0:Relationship Id="rId19" Type="http://schemas.openxmlformats.org/officeDocument/2006/relationships/slide" Target="slides/slide13.xml" /><ns0:Relationship Id="rId20" Type="http://schemas.openxmlformats.org/officeDocument/2006/relationships/slide" Target="slides/slide14.xml" /><ns0:Relationship Id="rId21" Type="http://schemas.openxmlformats.org/officeDocument/2006/relationships/slide" Target="slides/slide15.xml" /><ns0:Relationship Id="rId22" Type="http://schemas.openxmlformats.org/officeDocument/2006/relationships/slide" Target="slides/slide16.xml" /><ns0:Relationship Id="rId23" Type="http://schemas.openxmlformats.org/officeDocument/2006/relationships/slide" Target="slides/slide17.xml" /><ns0:Relationship Id="rId24" Type="http://schemas.openxmlformats.org/officeDocument/2006/relationships/slide" Target="slides/slide18.xml" /><ns0:Relationship Id="rId25" Type="http://schemas.openxmlformats.org/officeDocument/2006/relationships/slide" Target="slides/slide19.xml" /><ns0:Relationship Id="rId26" Type="http://schemas.openxmlformats.org/officeDocument/2006/relationships/slide" Target="slides/slide20.xml" /><ns0:Relationship Id="rId27" Type="http://schemas.openxmlformats.org/officeDocument/2006/relationships/slide" Target="slides/slide21.xml" /><ns0:Relationship Id="rId28" Type="http://schemas.openxmlformats.org/officeDocument/2006/relationships/slide" Target="slides/slide22.xml" /><ns0:Relationship Id="rId29" Type="http://schemas.openxmlformats.org/officeDocument/2006/relationships/slide" Target="slides/slide23.xml" /><ns0:Relationship Id="rId30" Type="http://schemas.openxmlformats.org/officeDocument/2006/relationships/slide" Target="slides/slide24.xml" /><ns0:Relationship Id="rId31" Type="http://schemas.openxmlformats.org/officeDocument/2006/relationships/slide" Target="slides/slide25.xml" /><ns0:Relationship Id="rId32" Type="http://schemas.openxmlformats.org/officeDocument/2006/relationships/slide" Target="slides/slide26.xml" /><ns0:Relationship Id="rId33" Type="http://schemas.openxmlformats.org/officeDocument/2006/relationships/slide" Target="slides/slide27.xml" /><ns0:Relationship Id="rId34" Type="http://schemas.openxmlformats.org/officeDocument/2006/relationships/slide" Target="slides/slide28.xml" /><ns0:Relationship Id="rId35" Type="http://schemas.openxmlformats.org/officeDocument/2006/relationships/slide" Target="slides/slide29.xml" /><ns0:Relationship Id="rId36" Type="http://schemas.openxmlformats.org/officeDocument/2006/relationships/slide" Target="slides/slide30.xml" /><ns0:Relationship Id="rId37" Type="http://schemas.openxmlformats.org/officeDocument/2006/relationships/slide" Target="slides/slide31.xml" /><ns0:Relationship Id="rId38" Type="http://schemas.openxmlformats.org/officeDocument/2006/relationships/slide" Target="slides/slide32.xml" /><ns0:Relationship Id="rId39" Type="http://schemas.openxmlformats.org/officeDocument/2006/relationships/slide" Target="slides/slide33.xml" /><ns0:Relationship Id="rId40" Type="http://schemas.openxmlformats.org/officeDocument/2006/relationships/slide" Target="slides/slide34.xml" /><ns0:Relationship Id="rId41" Type="http://schemas.openxmlformats.org/officeDocument/2006/relationships/slide" Target="slides/slide35.xml" /><ns0:Relationship Id="rId42" Type="http://schemas.openxmlformats.org/officeDocument/2006/relationships/slide" Target="slides/slide36.xml" /><ns0:Relationship Id="rId43" Type="http://schemas.openxmlformats.org/officeDocument/2006/relationships/slide" Target="slides/slide37.xml" /></ns0:Relationships>
</file>

<file path=ppt/slideLayouts/_rels/slideLayout1.xml.rels><ns0:Relationships xmlns:ns0="http://schemas.openxmlformats.org/package/2006/relationships"><ns0:Relationship Id="rId1" Type="http://schemas.openxmlformats.org/officeDocument/2006/relationships/slideMaster" Target="../slideMasters/slideMaster1.xml" /></ns0:Relationships>
</file>

<file path=ppt/slideLayouts/_rels/slideLayout2.xml.rels><ns0:Relationships xmlns:ns0="http://schemas.openxmlformats.org/package/2006/relationships"><ns0:Relationship Id="rId1" Type="http://schemas.openxmlformats.org/officeDocument/2006/relationships/slideMaster" Target="../slideMasters/slideMaster1.xml" /></ns0:Relationships>
</file>

<file path=ppt/slideLayouts/_rels/slideLayout3.xml.rels><ns0:Relationships xmlns:ns0="http://schemas.openxmlformats.org/package/2006/relationships"><ns0:Relationship Id="rId1" Type="http://schemas.openxmlformats.org/officeDocument/2006/relationships/slideMaster" Target="../slideMasters/slideMaster1.xml" /></ns0:Relationships>
</file>

<file path=ppt/slideLayouts/_rels/slideLayout4.xml.rels><ns0:Relationships xmlns:ns0="http://schemas.openxmlformats.org/package/2006/relationships"><ns0:Relationship Id="rId1" Type="http://schemas.openxmlformats.org/officeDocument/2006/relationships/slideMaster" Target="../slideMasters/slideMaster1.xml" /></ns0:Relationships>
</file>

<file path=ppt/slideLayouts/_rels/slideLayout5.xml.rels><ns0:Relationships xmlns:ns0="http://schemas.openxmlformats.org/package/2006/relationships"><ns0:Relationship Id="rId1" Type="http://schemas.openxmlformats.org/officeDocument/2006/relationships/slideMaster" Target="../slideMasters/slideMaster1.xml" /></ns0:Relationships>
</file>

<file path=ppt/slideLayouts/_rels/slideLayout6.xml.rels><ns0:Relationships xmlns:ns0="http://schemas.openxmlformats.org/package/2006/relationships"><ns0:Relationship Id="rId1" Type="http://schemas.openxmlformats.org/officeDocument/2006/relationships/slideMaster" Target="../slideMasters/slideMaster1.xml" /></ns0:Relationships>
</file>

<file path=ppt/slideLayouts/_rels/slideLayout7.xml.rels><ns0:Relationships xmlns:ns0="http://schemas.openxmlformats.org/package/2006/relationships"><ns0:Relationship Id="rId1" Type="http://schemas.openxmlformats.org/officeDocument/2006/relationships/slideMaster" Target="../slideMasters/slideMaster1.xml" /></ns0:Relationships>
</file>

<file path=ppt/slideLayouts/_rels/slideLayout8.xml.rels><ns0:Relationships xmlns:ns0="http://schemas.openxmlformats.org/package/2006/relationships"><ns0:Relationship Id="rId1" Type="http://schemas.openxmlformats.org/officeDocument/2006/relationships/slideMaster" Target="../slideMasters/slideMaster1.xml" /></ns0:Relationships>
</file>

<file path=ppt/slideLayouts/_rels/slideLayout9.xml.rels><ns0:Relationships xmlns:ns0="http://schemas.openxmlformats.org/package/2006/relationships"><ns0:Relationship Id="rId1" Type="http://schemas.openxmlformats.org/officeDocument/2006/relationships/slideMaster" Target="../slideMasters/slideMaster1.xml" /></ns0:Relationships>
</file>

<file path=ppt/slideLayouts/_rels/slideLayout10.xml.rels><ns0:Relationships xmlns:ns0="http://schemas.openxmlformats.org/package/2006/relationships"><ns0:Relationship Id="rId1" Type="http://schemas.openxmlformats.org/officeDocument/2006/relationships/slideMaster" Target="../slideMasters/slideMaster1.xml" /></ns0:Relationships>
</file>

<file path=ppt/slideLayouts/_rels/slideLayout11.xml.rels><ns0:Relationships xmlns:ns0="http://schemas.openxmlformats.org/package/2006/relationships"><ns0:Relationship Id="rId1" Type="http://schemas.openxmlformats.org/officeDocument/2006/relationships/slideMaster" Target="../slideMasters/slideMaster1.xml" /></ns0: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slideLayout" Target="../slideLayouts/slideLayout2.xml" /><ns0:Relationship Id="rId3" Type="http://schemas.openxmlformats.org/officeDocument/2006/relationships/slideLayout" Target="../slideLayouts/slideLayout3.xml" /><ns0:Relationship Id="rId4" Type="http://schemas.openxmlformats.org/officeDocument/2006/relationships/slideLayout" Target="../slideLayouts/slideLayout4.xml" /><ns0:Relationship Id="rId5" Type="http://schemas.openxmlformats.org/officeDocument/2006/relationships/slideLayout" Target="../slideLayouts/slideLayout5.xml" /><ns0:Relationship Id="rId6" Type="http://schemas.openxmlformats.org/officeDocument/2006/relationships/slideLayout" Target="../slideLayouts/slideLayout6.xml" /><ns0:Relationship Id="rId7" Type="http://schemas.openxmlformats.org/officeDocument/2006/relationships/slideLayout" Target="../slideLayouts/slideLayout7.xml" /><ns0:Relationship Id="rId8" Type="http://schemas.openxmlformats.org/officeDocument/2006/relationships/slideLayout" Target="../slideLayouts/slideLayout8.xml" /><ns0:Relationship Id="rId9" Type="http://schemas.openxmlformats.org/officeDocument/2006/relationships/slideLayout" Target="../slideLayouts/slideLayout9.xml" /><ns0:Relationship Id="rId10" Type="http://schemas.openxmlformats.org/officeDocument/2006/relationships/slideLayout" Target="../slideLayouts/slideLayout10.xml" /><ns0:Relationship Id="rId11" Type="http://schemas.openxmlformats.org/officeDocument/2006/relationships/slideLayout" Target="../slideLayouts/slideLayout11.xml" /><ns0:Relationship Id="rId12" Type="http://schemas.openxmlformats.org/officeDocument/2006/relationships/theme" Target="../theme/theme1.xml" /></ns0: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ns0:Relationships xmlns:ns0="http://schemas.openxmlformats.org/package/2006/relationships"><ns0:Relationship Id="rId1" Type="http://schemas.openxmlformats.org/officeDocument/2006/relationships/slideLayout" Target="../slideLayouts/slideLayout6.xml" /></ns0:Relationships>
</file>

<file path=ppt/slides/_rels/slide2.xml.rels><ns0:Relationships xmlns:ns0="http://schemas.openxmlformats.org/package/2006/relationships"><ns0:Relationship Id="rId1" Type="http://schemas.openxmlformats.org/officeDocument/2006/relationships/slideLayout" Target="../slideLayouts/slideLayout6.xml" /></ns0:Relationships>
</file>

<file path=ppt/slides/_rels/slide3.xml.rels><ns0:Relationships xmlns:ns0="http://schemas.openxmlformats.org/package/2006/relationships"><ns0:Relationship Id="rId1" Type="http://schemas.openxmlformats.org/officeDocument/2006/relationships/slideLayout" Target="../slideLayouts/slideLayout6.xml" /></ns0:Relationships>
</file>

<file path=ppt/slides/_rels/slide4.xml.rels><ns0:Relationships xmlns:ns0="http://schemas.openxmlformats.org/package/2006/relationships"><ns0:Relationship Id="rId1" Type="http://schemas.openxmlformats.org/officeDocument/2006/relationships/slideLayout" Target="../slideLayouts/slideLayout6.xml" /></ns0:Relationships>
</file>

<file path=ppt/slides/_rels/slide5.xml.rels><ns0:Relationships xmlns:ns0="http://schemas.openxmlformats.org/package/2006/relationships"><ns0:Relationship Id="rId1" Type="http://schemas.openxmlformats.org/officeDocument/2006/relationships/slideLayout" Target="../slideLayouts/slideLayout6.xml" /></ns0:Relationships>
</file>

<file path=ppt/slides/_rels/slide6.xml.rels><ns0:Relationships xmlns:ns0="http://schemas.openxmlformats.org/package/2006/relationships"><ns0:Relationship Id="rId1" Type="http://schemas.openxmlformats.org/officeDocument/2006/relationships/slideLayout" Target="../slideLayouts/slideLayout6.xml" /></ns0:Relationships>
</file>

<file path=ppt/slides/_rels/slide7.xml.rels><ns0:Relationships xmlns:ns0="http://schemas.openxmlformats.org/package/2006/relationships"><ns0:Relationship Id="rId1" Type="http://schemas.openxmlformats.org/officeDocument/2006/relationships/slideLayout" Target="../slideLayouts/slideLayout6.xml" /></ns0:Relationships>
</file>

<file path=ppt/slides/_rels/slide8.xml.rels><ns0:Relationships xmlns:ns0="http://schemas.openxmlformats.org/package/2006/relationships"><ns0:Relationship Id="rId1" Type="http://schemas.openxmlformats.org/officeDocument/2006/relationships/slideLayout" Target="../slideLayouts/slideLayout6.xml" /></ns0:Relationships>
</file>

<file path=ppt/slides/_rels/slide9.xml.rels><ns0:Relationships xmlns:ns0="http://schemas.openxmlformats.org/package/2006/relationships"><ns0:Relationship Id="rId1" Type="http://schemas.openxmlformats.org/officeDocument/2006/relationships/slideLayout" Target="../slideLayouts/slideLayout6.xml" /></ns0:Relationships>
</file>

<file path=ppt/slides/_rels/slide10.xml.rels><ns0:Relationships xmlns:ns0="http://schemas.openxmlformats.org/package/2006/relationships"><ns0:Relationship Id="rId1" Type="http://schemas.openxmlformats.org/officeDocument/2006/relationships/slideLayout" Target="../slideLayouts/slideLayout6.xml" /></ns0:Relationships>
</file>

<file path=ppt/slides/_rels/slide11.xml.rels><ns0:Relationships xmlns:ns0="http://schemas.openxmlformats.org/package/2006/relationships"><ns0:Relationship Id="rId1" Type="http://schemas.openxmlformats.org/officeDocument/2006/relationships/slideLayout" Target="../slideLayouts/slideLayout6.xml" /></ns0:Relationships>
</file>

<file path=ppt/slides/_rels/slide12.xml.rels><ns0:Relationships xmlns:ns0="http://schemas.openxmlformats.org/package/2006/relationships"><ns0:Relationship Id="rId1" Type="http://schemas.openxmlformats.org/officeDocument/2006/relationships/slideLayout" Target="../slideLayouts/slideLayout6.xml" /></ns0:Relationships>
</file>

<file path=ppt/slides/_rels/slide13.xml.rels><ns0:Relationships xmlns:ns0="http://schemas.openxmlformats.org/package/2006/relationships"><ns0:Relationship Id="rId1" Type="http://schemas.openxmlformats.org/officeDocument/2006/relationships/slideLayout" Target="../slideLayouts/slideLayout6.xml" /></ns0:Relationships>
</file>

<file path=ppt/slides/_rels/slide14.xml.rels><ns0:Relationships xmlns:ns0="http://schemas.openxmlformats.org/package/2006/relationships"><ns0:Relationship Id="rId1" Type="http://schemas.openxmlformats.org/officeDocument/2006/relationships/slideLayout" Target="../slideLayouts/slideLayout6.xml" /></ns0:Relationships>
</file>

<file path=ppt/slides/_rels/slide15.xml.rels><ns0:Relationships xmlns:ns0="http://schemas.openxmlformats.org/package/2006/relationships"><ns0:Relationship Id="rId1" Type="http://schemas.openxmlformats.org/officeDocument/2006/relationships/slideLayout" Target="../slideLayouts/slideLayout6.xml" /></ns0:Relationships>
</file>

<file path=ppt/slides/_rels/slide16.xml.rels><ns0:Relationships xmlns:ns0="http://schemas.openxmlformats.org/package/2006/relationships"><ns0:Relationship Id="rId1" Type="http://schemas.openxmlformats.org/officeDocument/2006/relationships/slideLayout" Target="../slideLayouts/slideLayout6.xml" /></ns0:Relationships>
</file>

<file path=ppt/slides/_rels/slide17.xml.rels><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image" Target="../media/image1.png" /><ns0:Relationship Id="rId3" Type="http://schemas.openxmlformats.org/officeDocument/2006/relationships/image" Target="../media/image2.png" /><ns0:Relationship Id="rId4" Type="http://schemas.openxmlformats.org/officeDocument/2006/relationships/image" Target="../media/image3.png" /><ns0:Relationship Id="rId5" Type="http://schemas.openxmlformats.org/officeDocument/2006/relationships/image" Target="../media/image4.png" /><ns0:Relationship Id="rId6" Type="http://schemas.openxmlformats.org/officeDocument/2006/relationships/image" Target="../media/image5.png" /><ns0:Relationship Id="rId7" Type="http://schemas.openxmlformats.org/officeDocument/2006/relationships/image" Target="../media/image6.png" /><ns0:Relationship Id="rId8" Type="http://schemas.openxmlformats.org/officeDocument/2006/relationships/image" Target="../media/image7.png" /><ns0:Relationship Id="rId9" Type="http://schemas.openxmlformats.org/officeDocument/2006/relationships/image" Target="../media/image8.png" /><ns0:Relationship Id="rId10" Type="http://schemas.openxmlformats.org/officeDocument/2006/relationships/image" Target="../media/image9.png" /><ns0:Relationship Id="rId11" Type="http://schemas.openxmlformats.org/officeDocument/2006/relationships/image" Target="../media/image10.png" /></ns0:Relationships>
</file>

<file path=ppt/slides/_rels/slide18.xml.rels><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image" Target="../media/image11.png" /><ns0:Relationship Id="rId3" Type="http://schemas.openxmlformats.org/officeDocument/2006/relationships/image" Target="../media/image12.png" /><ns0:Relationship Id="rId4" Type="http://schemas.openxmlformats.org/officeDocument/2006/relationships/image" Target="../media/image13.png" /><ns0:Relationship Id="rId5" Type="http://schemas.openxmlformats.org/officeDocument/2006/relationships/image" Target="../media/image14.png" /><ns0:Relationship Id="rId6" Type="http://schemas.openxmlformats.org/officeDocument/2006/relationships/image" Target="../media/image15.png" /><ns0:Relationship Id="rId7" Type="http://schemas.openxmlformats.org/officeDocument/2006/relationships/image" Target="../media/image16.png" /><ns0:Relationship Id="rId8" Type="http://schemas.openxmlformats.org/officeDocument/2006/relationships/image" Target="../media/image17.png" /><ns0:Relationship Id="rId9" Type="http://schemas.openxmlformats.org/officeDocument/2006/relationships/image" Target="../media/image18.png" /><ns0:Relationship Id="rId10" Type="http://schemas.openxmlformats.org/officeDocument/2006/relationships/image" Target="../media/image19.png" /><ns0:Relationship Id="rId11" Type="http://schemas.openxmlformats.org/officeDocument/2006/relationships/image" Target="../media/image20.png" /><ns0:Relationship Id="rId12" Type="http://schemas.openxmlformats.org/officeDocument/2006/relationships/image" Target="../media/image3.png" /><ns0:Relationship Id="rId13" Type="http://schemas.openxmlformats.org/officeDocument/2006/relationships/image" Target="../media/image21.png" /><ns0:Relationship Id="rId14" Type="http://schemas.openxmlformats.org/officeDocument/2006/relationships/image" Target="../media/image22.png" /><ns0:Relationship Id="rId15" Type="http://schemas.openxmlformats.org/officeDocument/2006/relationships/image" Target="../media/image23.png" /><ns0:Relationship Id="rId16" Type="http://schemas.openxmlformats.org/officeDocument/2006/relationships/image" Target="../media/image24.png" /></ns0:Relationships>
</file>

<file path=ppt/slides/_rels/slide19.xml.rels><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image" Target="../media/image25.png" /><ns0:Relationship Id="rId3" Type="http://schemas.openxmlformats.org/officeDocument/2006/relationships/image" Target="../media/image26.png" /><ns0:Relationship Id="rId4" Type="http://schemas.openxmlformats.org/officeDocument/2006/relationships/image" Target="../media/image27.png" /><ns0:Relationship Id="rId5" Type="http://schemas.openxmlformats.org/officeDocument/2006/relationships/image" Target="../media/image28.png" /><ns0:Relationship Id="rId6" Type="http://schemas.openxmlformats.org/officeDocument/2006/relationships/image" Target="../media/image29.png" /><ns0:Relationship Id="rId7" Type="http://schemas.openxmlformats.org/officeDocument/2006/relationships/image" Target="../media/image30.png" /><ns0:Relationship Id="rId8" Type="http://schemas.openxmlformats.org/officeDocument/2006/relationships/image" Target="../media/image31.png" /><ns0:Relationship Id="rId9" Type="http://schemas.openxmlformats.org/officeDocument/2006/relationships/image" Target="../media/image32.png" /><ns0:Relationship Id="rId10" Type="http://schemas.openxmlformats.org/officeDocument/2006/relationships/image" Target="../media/image33.png" /><ns0:Relationship Id="rId11" Type="http://schemas.openxmlformats.org/officeDocument/2006/relationships/image" Target="../media/image34.png" /><ns0:Relationship Id="rId12" Type="http://schemas.openxmlformats.org/officeDocument/2006/relationships/image" Target="../media/image35.png" /><ns0:Relationship Id="rId13" Type="http://schemas.openxmlformats.org/officeDocument/2006/relationships/image" Target="../media/image36.png" /><ns0:Relationship Id="rId14" Type="http://schemas.openxmlformats.org/officeDocument/2006/relationships/image" Target="../media/image37.png" /></ns0:Relationships>
</file>

<file path=ppt/slides/_rels/slide20.xml.rels><ns0:Relationships xmlns:ns0="http://schemas.openxmlformats.org/package/2006/relationships"><ns0:Relationship Id="rId1" Type="http://schemas.openxmlformats.org/officeDocument/2006/relationships/slideLayout" Target="../slideLayouts/slideLayout2.xml" /></ns0:Relationships>
</file>

<file path=ppt/slides/_rels/slide21.xml.rels><ns0:Relationships xmlns:ns0="http://schemas.openxmlformats.org/package/2006/relationships"><ns0:Relationship Id="rId1" Type="http://schemas.openxmlformats.org/officeDocument/2006/relationships/slideLayout" Target="../slideLayouts/slideLayout2.xml" /></ns0:Relationships>
</file>

<file path=ppt/slides/_rels/slide22.xml.rels><ns0:Relationships xmlns:ns0="http://schemas.openxmlformats.org/package/2006/relationships"><ns0:Relationship Id="rId1" Type="http://schemas.openxmlformats.org/officeDocument/2006/relationships/slideLayout" Target="../slideLayouts/slideLayout2.xml" /></ns0:Relationships>
</file>

<file path=ppt/slides/_rels/slide23.xml.rels><ns0:Relationships xmlns:ns0="http://schemas.openxmlformats.org/package/2006/relationships"><ns0:Relationship Id="rId1" Type="http://schemas.openxmlformats.org/officeDocument/2006/relationships/slideLayout" Target="../slideLayouts/slideLayout2.xml" /></ns0:Relationships>
</file>

<file path=ppt/slides/_rels/slide24.xml.rels><ns0:Relationships xmlns:ns0="http://schemas.openxmlformats.org/package/2006/relationships"><ns0:Relationship Id="rId1" Type="http://schemas.openxmlformats.org/officeDocument/2006/relationships/slideLayout" Target="../slideLayouts/slideLayout2.xml" /></ns0:Relationships>
</file>

<file path=ppt/slides/_rels/slide25.xml.rels><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image" Target="../media/image4.png" /><ns0:Relationship Id="rId3" Type="http://schemas.openxmlformats.org/officeDocument/2006/relationships/image" Target="../media/image38.png" /><ns0:Relationship Id="rId4" Type="http://schemas.openxmlformats.org/officeDocument/2006/relationships/image" Target="../media/image39.png" /><ns0:Relationship Id="rId5" Type="http://schemas.openxmlformats.org/officeDocument/2006/relationships/image" Target="../media/image40.png" /><ns0:Relationship Id="rId6" Type="http://schemas.openxmlformats.org/officeDocument/2006/relationships/image" Target="../media/image41.png" /><ns0:Relationship Id="rId7" Type="http://schemas.openxmlformats.org/officeDocument/2006/relationships/image" Target="../media/image42.png" /><ns0:Relationship Id="rId8" Type="http://schemas.openxmlformats.org/officeDocument/2006/relationships/image" Target="../media/image43.png" /><ns0:Relationship Id="rId9" Type="http://schemas.openxmlformats.org/officeDocument/2006/relationships/image" Target="../media/image44.png" /><ns0:Relationship Id="rId10" Type="http://schemas.openxmlformats.org/officeDocument/2006/relationships/image" Target="../media/image45.png" /><ns0:Relationship Id="rId11" Type="http://schemas.openxmlformats.org/officeDocument/2006/relationships/image" Target="../media/image46.png" /><ns0:Relationship Id="rId12" Type="http://schemas.openxmlformats.org/officeDocument/2006/relationships/image" Target="../media/image20.png" /><ns0:Relationship Id="rId13" Type="http://schemas.openxmlformats.org/officeDocument/2006/relationships/image" Target="../media/image47.png" /><ns0:Relationship Id="rId14" Type="http://schemas.openxmlformats.org/officeDocument/2006/relationships/image" Target="../media/image3.png" /><ns0:Relationship Id="rId15" Type="http://schemas.openxmlformats.org/officeDocument/2006/relationships/image" Target="../media/image48.png" /></ns0:Relationships>
</file>

<file path=ppt/slides/_rels/slide26.xml.rels><ns0:Relationships xmlns:ns0="http://schemas.openxmlformats.org/package/2006/relationships"><ns0:Relationship Id="rId1" Type="http://schemas.openxmlformats.org/officeDocument/2006/relationships/slideLayout" Target="../slideLayouts/slideLayout2.xml" /></ns0:Relationships>
</file>

<file path=ppt/slides/_rels/slide27.xml.rels><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image" Target="../media/image5.png" /><ns0:Relationship Id="rId3" Type="http://schemas.openxmlformats.org/officeDocument/2006/relationships/image" Target="../media/image49.png" /><ns0:Relationship Id="rId4" Type="http://schemas.openxmlformats.org/officeDocument/2006/relationships/image" Target="../media/image50.png" /><ns0:Relationship Id="rId5" Type="http://schemas.openxmlformats.org/officeDocument/2006/relationships/image" Target="../media/image51.png" /><ns0:Relationship Id="rId6" Type="http://schemas.openxmlformats.org/officeDocument/2006/relationships/image" Target="../media/image52.png" /><ns0:Relationship Id="rId7" Type="http://schemas.openxmlformats.org/officeDocument/2006/relationships/image" Target="../media/image53.png" /><ns0:Relationship Id="rId8" Type="http://schemas.openxmlformats.org/officeDocument/2006/relationships/image" Target="../media/image54.png" /><ns0:Relationship Id="rId9" Type="http://schemas.openxmlformats.org/officeDocument/2006/relationships/image" Target="../media/image55.png" /><ns0:Relationship Id="rId10" Type="http://schemas.openxmlformats.org/officeDocument/2006/relationships/image" Target="../media/image56.png" /><ns0:Relationship Id="rId11" Type="http://schemas.openxmlformats.org/officeDocument/2006/relationships/image" Target="../media/image57.png" /><ns0:Relationship Id="rId12" Type="http://schemas.openxmlformats.org/officeDocument/2006/relationships/image" Target="../media/image21.png" /></ns0:Relationships>
</file>

<file path=ppt/slides/_rels/slide28.xml.rels><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image" Target="../media/image58.png" /><ns0:Relationship Id="rId3" Type="http://schemas.openxmlformats.org/officeDocument/2006/relationships/image" Target="../media/image59.png" /><ns0:Relationship Id="rId4" Type="http://schemas.openxmlformats.org/officeDocument/2006/relationships/image" Target="../media/image60.png" /><ns0:Relationship Id="rId5" Type="http://schemas.openxmlformats.org/officeDocument/2006/relationships/image" Target="../media/image61.png" /><ns0:Relationship Id="rId6" Type="http://schemas.openxmlformats.org/officeDocument/2006/relationships/image" Target="../media/image62.png" /><ns0:Relationship Id="rId7" Type="http://schemas.openxmlformats.org/officeDocument/2006/relationships/image" Target="../media/image63.png" /></ns0:Relationships>
</file>

<file path=ppt/slides/_rels/slide29.xml.rels><ns0:Relationships xmlns:ns0="http://schemas.openxmlformats.org/package/2006/relationships"><ns0:Relationship Id="rId1" Type="http://schemas.openxmlformats.org/officeDocument/2006/relationships/slideLayout" Target="../slideLayouts/slideLayout2.xml" /></ns0:Relationships>
</file>

<file path=ppt/slides/_rels/slide30.xml.rels><ns0:Relationships xmlns:ns0="http://schemas.openxmlformats.org/package/2006/relationships"><ns0:Relationship Id="rId1" Type="http://schemas.openxmlformats.org/officeDocument/2006/relationships/slideLayout" Target="../slideLayouts/slideLayout2.xml" /></ns0:Relationships>
</file>

<file path=ppt/slides/_rels/slide31.xml.rels><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image" Target="../media/image4.png" /><ns0:Relationship Id="rId3" Type="http://schemas.openxmlformats.org/officeDocument/2006/relationships/image" Target="../media/image64.png" /><ns0:Relationship Id="rId4" Type="http://schemas.openxmlformats.org/officeDocument/2006/relationships/image" Target="../media/image65.png" /><ns0:Relationship Id="rId5" Type="http://schemas.openxmlformats.org/officeDocument/2006/relationships/image" Target="../media/image66.png" /><ns0:Relationship Id="rId6" Type="http://schemas.openxmlformats.org/officeDocument/2006/relationships/image" Target="../media/image67.png" /><ns0:Relationship Id="rId7" Type="http://schemas.openxmlformats.org/officeDocument/2006/relationships/image" Target="../media/image68.png" /><ns0:Relationship Id="rId8" Type="http://schemas.openxmlformats.org/officeDocument/2006/relationships/image" Target="../media/image69.png" /><ns0:Relationship Id="rId9" Type="http://schemas.openxmlformats.org/officeDocument/2006/relationships/image" Target="../media/image70.png" /></ns0:Relationships>
</file>

<file path=ppt/slides/_rels/slide32.xml.rels><ns0:Relationships xmlns:ns0="http://schemas.openxmlformats.org/package/2006/relationships"><ns0:Relationship Id="rId1" Type="http://schemas.openxmlformats.org/officeDocument/2006/relationships/slideLayout" Target="../slideLayouts/slideLayout2.xml" /></ns0:Relationships>
</file>

<file path=ppt/slides/_rels/slide33.xml.rels><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image" Target="../media/image71.png" /><ns0:Relationship Id="rId3" Type="http://schemas.openxmlformats.org/officeDocument/2006/relationships/image" Target="../media/image3.png" /><ns0:Relationship Id="rId4" Type="http://schemas.openxmlformats.org/officeDocument/2006/relationships/image" Target="../media/image2.png" /><ns0:Relationship Id="rId5" Type="http://schemas.openxmlformats.org/officeDocument/2006/relationships/image" Target="../media/image9.png" /><ns0:Relationship Id="rId6" Type="http://schemas.openxmlformats.org/officeDocument/2006/relationships/image" Target="../media/image72.png" /></ns0:Relationships>
</file>

<file path=ppt/slides/_rels/slide34.xml.rels><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image" Target="../media/image20.png" /><ns0:Relationship Id="rId3" Type="http://schemas.openxmlformats.org/officeDocument/2006/relationships/image" Target="../media/image73.png" /><ns0:Relationship Id="rId4" Type="http://schemas.openxmlformats.org/officeDocument/2006/relationships/image" Target="../media/image74.png" /><ns0:Relationship Id="rId5" Type="http://schemas.openxmlformats.org/officeDocument/2006/relationships/image" Target="../media/image3.png" /></ns0:Relationships>
</file>

<file path=ppt/slides/_rels/slide35.xml.rels><ns0:Relationships xmlns:ns0="http://schemas.openxmlformats.org/package/2006/relationships"><ns0:Relationship Id="rId1" Type="http://schemas.openxmlformats.org/officeDocument/2006/relationships/slideLayout" Target="../slideLayouts/slideLayout2.xml" /></ns0:Relationships>
</file>

<file path=ppt/slides/_rels/slide36.xml.rels><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image" Target="../media/image75.png" /><ns0:Relationship Id="rId3" Type="http://schemas.openxmlformats.org/officeDocument/2006/relationships/image" Target="../media/image76.png" /><ns0:Relationship Id="rId4" Type="http://schemas.openxmlformats.org/officeDocument/2006/relationships/image" Target="../media/image77.png" /></ns0:Relationships>
</file>

<file path=ppt/slides/_rels/slide37.xml.rels><ns0:Relationships xmlns:ns0="http://schemas.openxmlformats.org/package/2006/relationships"><ns0:Relationship Id="rId1" Type="http://schemas.openxmlformats.org/officeDocument/2006/relationships/slideLayout" Target="../slideLayouts/slideLayout2.xml" /></ns0: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pic>
        <p:nvPicPr>
          <p:cNvPr id="3" name="Picture 2" descr="fig_1.emf"/>
          <p:cNvPicPr>
            <a:picLocks noChangeAspect="1"/>
          </p:cNvPicPr>
          <p:nvPr/>
        </p:nvPicPr>
        <p:blipFill>
          <a:blip r:embed="rId2"/>
          <a:stretch>
            <a:fillRect/>
          </a:stretch>
        </p:blipFill>
        <p:spPr>
          <a:xfrm>
            <a:off x="4754880" y="1005840"/>
            <a:ext cx="4389120" cy="43891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p>
          <a:p>
            <a:pPr>
              <a:defRPr sz="1800"/>
            </a:pPr>
          </a:p>
          <a:p>
            <a:pPr>
              <a:defRPr sz="1800"/>
            </a:pPr>
          </a:p>
          <a:p>
            <a:pPr>
              <a:defRPr sz="1800"/>
            </a:pPr>
          </a:p>
        </p:txBody>
      </p:sp>
      <p:pic>
        <p:nvPicPr>
          <p:cNvPr id="4" name="Picture 3" descr="fig_2.emf"/>
          <p:cNvPicPr>
            <a:picLocks noChangeAspect="1"/>
          </p:cNvPicPr>
          <p:nvPr/>
        </p:nvPicPr>
        <p:blipFill>
          <a:blip r:embed="rId2"/>
          <a:stretch>
            <a:fillRect/>
          </a:stretch>
        </p:blipFill>
        <p:spPr>
          <a:xfrm>
            <a:off x="4754880" y="1005840"/>
            <a:ext cx="4389120" cy="3901153"/>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r>
              <a:t>``All warfare is based on deception.''</a:t>
            </a:r>
          </a:p>
          <a:p>
            <a:pPr>
              <a:defRPr sz="1800"/>
            </a:pPr>
            <a:r>
              <a:t>``He will win who knows when to fight and when not to fight.''</a:t>
            </a:r>
          </a:p>
          <a:p>
            <a:pPr>
              <a:defRPr sz="1800"/>
            </a:pPr>
            <a:r>
              <a:t>``The greatest victory is that which requires no battle.'' --- Sun Tzu, The Art of War.</a:t>
            </a:r>
          </a:p>
        </p:txBody>
      </p:sp>
      <p:pic>
        <p:nvPicPr>
          <p:cNvPr id="4" name="Picture 3" descr="fig_3.emf"/>
          <p:cNvPicPr>
            <a:picLocks noChangeAspect="1"/>
          </p:cNvPicPr>
          <p:nvPr/>
        </p:nvPicPr>
        <p:blipFill>
          <a:blip r:embed="rId2"/>
          <a:stretch>
            <a:fillRect/>
          </a:stretch>
        </p:blipFill>
        <p:spPr>
          <a:xfrm>
            <a:off x="4754880" y="1005840"/>
            <a:ext cx="4389120" cy="171100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pic>
        <p:nvPicPr>
          <p:cNvPr id="3" name="Picture 2" descr="fig_4.emf"/>
          <p:cNvPicPr>
            <a:picLocks noChangeAspect="1"/>
          </p:cNvPicPr>
          <p:nvPr/>
        </p:nvPicPr>
        <p:blipFill>
          <a:blip r:embed="rId2"/>
          <a:stretch>
            <a:fillRect/>
          </a:stretch>
        </p:blipFill>
        <p:spPr>
          <a:xfrm>
            <a:off x="4754880" y="1005840"/>
            <a:ext cx="4389120" cy="280553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p>
          <a:p>
            <a:pPr>
              <a:defRPr sz="1800"/>
            </a:pPr>
          </a:p>
          <a:p>
            <a:pPr>
              <a:defRPr sz="1800"/>
            </a:pPr>
          </a:p>
          <a:p>
            <a:pPr>
              <a:defRPr sz="1800"/>
            </a:pPr>
          </a:p>
        </p:txBody>
      </p:sp>
      <p:pic>
        <p:nvPicPr>
          <p:cNvPr id="4" name="Picture 3" descr="fig_5.emf"/>
          <p:cNvPicPr>
            <a:picLocks noChangeAspect="1"/>
          </p:cNvPicPr>
          <p:nvPr/>
        </p:nvPicPr>
        <p:blipFill>
          <a:blip r:embed="rId2"/>
          <a:stretch>
            <a:fillRect/>
          </a:stretch>
        </p:blipFill>
        <p:spPr>
          <a:xfrm>
            <a:off x="4754880" y="1005840"/>
            <a:ext cx="4389120" cy="2115013"/>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pic>
        <p:nvPicPr>
          <p:cNvPr id="3" name="Picture 2" descr="fig_6.emf"/>
          <p:cNvPicPr>
            <a:picLocks noChangeAspect="1"/>
          </p:cNvPicPr>
          <p:nvPr/>
        </p:nvPicPr>
        <p:blipFill>
          <a:blip r:embed="rId2"/>
          <a:stretch>
            <a:fillRect/>
          </a:stretch>
        </p:blipFill>
        <p:spPr>
          <a:xfrm>
            <a:off x="4754880" y="1005840"/>
            <a:ext cx="4389120" cy="290467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pic>
        <p:nvPicPr>
          <p:cNvPr id="3" name="Picture 2" descr="fig_7.emf"/>
          <p:cNvPicPr>
            <a:picLocks noChangeAspect="1"/>
          </p:cNvPicPr>
          <p:nvPr/>
        </p:nvPicPr>
        <p:blipFill>
          <a:blip r:embed="rId2"/>
          <a:stretch>
            <a:fillRect/>
          </a:stretch>
        </p:blipFill>
        <p:spPr>
          <a:xfrm>
            <a:off x="4754880" y="1005840"/>
            <a:ext cx="4389120" cy="2697321"/>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p>
          <a:p>
            <a:pPr>
              <a:defRPr sz="1800"/>
            </a:pPr>
          </a:p>
          <a:p>
            <a:pPr>
              <a:defRPr sz="1800"/>
            </a:pPr>
          </a:p>
        </p:txBody>
      </p:sp>
      <p:pic>
        <p:nvPicPr>
          <p:cNvPr id="4" name="Picture 3" descr="fig_8.emf"/>
          <p:cNvPicPr>
            <a:picLocks noChangeAspect="1"/>
          </p:cNvPicPr>
          <p:nvPr/>
        </p:nvPicPr>
        <p:blipFill>
          <a:blip r:embed="rId2"/>
          <a:stretch>
            <a:fillRect/>
          </a:stretch>
        </p:blipFill>
        <p:spPr>
          <a:xfrm>
            <a:off x="4754880" y="1005840"/>
            <a:ext cx="4389120" cy="260734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p>
          <a:p>
            <a:pPr>
              <a:defRPr sz="1800"/>
            </a:pPr>
          </a:p>
          <a:p>
            <a:pPr>
              <a:defRPr sz="1800"/>
            </a:pPr>
          </a:p>
          <a:p>
            <a:pPr>
              <a:defRPr sz="1800"/>
            </a:pPr>
          </a:p>
          <a:p>
            <a:pPr>
              <a:defRPr sz="1800"/>
            </a:pPr>
          </a:p>
          <a:p>
            <a:pPr>
              <a:defRPr sz="1800"/>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p>
          <a:p>
            <a:pPr>
              <a:defRPr sz="1800"/>
            </a:pPr>
          </a:p>
          <a:p>
            <a:pPr>
              <a:defRPr sz="1800"/>
            </a:pPr>
          </a:p>
          <a:p>
            <a:pPr>
              <a:defRPr sz="1800"/>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p>
          <a:p>
            <a:pPr>
              <a:defRPr sz="1800"/>
            </a:pPr>
          </a:p>
          <a:p>
            <a:pPr>
              <a:defRPr sz="1800"/>
            </a:pPr>
          </a:p>
          <a:p>
            <a:pPr>
              <a:defRPr sz="1800"/>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p>
          <a:p>
            <a:pPr>
              <a:defRPr sz="1800"/>
            </a:pPr>
          </a:p>
          <a:p>
            <a:pPr>
              <a:defRPr sz="1800"/>
            </a:pPr>
          </a:p>
          <a:p>
            <a:pPr>
              <a:defRPr sz="1800"/>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p>
          <a:p>
            <a:pPr>
              <a:defRPr sz="1800"/>
            </a:pPr>
          </a:p>
          <a:p>
            <a:pPr>
              <a:defRPr sz="1800"/>
            </a:pPr>
          </a:p>
          <a:p>
            <a:pPr>
              <a:defRPr sz="1800"/>
            </a:p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188720"/>
            <a:ext cx="3840480" cy="4572000"/>
          </a:xfrm>
          <a:prstGeom prst="rect">
            <a:avLst/>
          </a:prstGeom>
          <a:noFill/>
        </p:spPr>
        <p:txBody>
          <a:bodyPr wrap="none">
            <a:spAutoFit/>
          </a:bodyPr>
          <a:lstStyle/>
          <a:p>
            <a:pPr>
              <a:defRPr sz="1800"/>
            </a:pPr>
            <a:r>
              <a:t>Real-world deployment in operational environments</a:t>
            </a:r>
          </a:p>
          <a:p>
            <a:pPr>
              <a:defRPr sz="1800"/>
            </a:pPr>
            <a:r>
              <a:t>Adversarial co-evolution with learning attackers (self-play)</a:t>
            </a:r>
          </a:p>
          <a:p>
            <a:pPr>
              <a:defRPr sz="1800"/>
            </a:pPr>
            <a:r>
              <a:t>Multi-defender coordination across distributed networks</a:t>
            </a:r>
          </a:p>
          <a:p>
            <a:pPr>
              <a:defRPr sz="1800"/>
            </a:pPr>
            <a:r>
              <a:t>Integration with existing security infrastructure (SIEM, EDR)</a:t>
            </a:r>
          </a:p>
          <a:p>
            <a:pPr>
              <a:defRPr sz="1800"/>
            </a:pPr>
            <a:r>
              <a:t>Explainable AI for analyst understanding and trust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a:t>
            </a:r>
          </a:p>
        </p:txBody>
      </p:sp>
      <p:sp>
        <p:nvSpPr>
          <p:cNvPr id="3" name="Content Placeholder 2"/>
          <p:cNvSpPr>
            <a:spLocks noGrp="1"/>
          </p:cNvSpPr>
          <p:nvPr>
            <p:ph idx="1"/>
          </p:nvPr>
        </p:nvSpPr>
        <p:spPr/>
        <p:txBody>
          <a:bodyPr/>
          <a:lstStyle/>
          <a:p>
            <a:r>
              <a:t>Problem Formulation}</a:t>
            </a:r>
          </a:p>
          <a:p/>
          <a:p>
            <a:r>
              <a:t>We model cyber defense as a two-player game between an attacker (red agent) and defender (blue agent) operating on a network topology. Each game consists of up to  [MATH]  timesteps, representing a complete attack scenario.</a:t>
            </a:r>
          </a:p>
          <a:p/>
          <a:p>
            <a:r>
              <a:t> The red agent follows a fixed policy  [MATH]  that executes MITRE ATT\&amp;CK techniques against network hosts. The blue agent learns a policy  [MATH]  through PPO to strategically deploy decoys that mislead attackers while protecting real assets.</a:t>
            </a:r>
          </a:p>
          <a:p/>
          <a:p>
            <a:r>
              <a:t> At each timestep  [MATH] , the blue agent first observes the network state  [MATH]  and selects a defensive action  [MATH]  (deploy decoy, remove decoy, or do nothing). The red agent then attacks a target, updating the network state for the next timestep.</a:t>
            </a:r>
          </a:p>
          <a:p/>
          <a:p>
            <a:r>
              <a:t> When the red agent attacks real hosts, it gains positive reward while the blue agent receives negative reward. When the red agent attacks decoys, the rewards reverse: the blue agent receives a deception bonus ( [MATH]  red reward) while the red agent is penalized.</a:t>
            </a:r>
          </a:p>
          <a:p/>
          <a:p>
            <a:r>
              <a:t> The blue agent learns to maximize its expected cumulative reward:</a:t>
            </a:r>
          </a:p>
          <a:p>
            <a:r>
              <a:t> [MATH] </a:t>
            </a:r>
          </a:p>
          <a:p/>
          <a:p>
            <a:r>
              <a:t>where  [MATH]  discounts future rewards and  [MATH]  combines deployment costs (-20.0 per decoy) with deception bonuses (+10× attacker reward when decoys are attacked).</a:t>
            </a:r>
          </a:p>
          <a:p/>
          <a:p>
            <a:r>
              <a:t> We train against a fixed red agent that executes MITRE ATT\&amp;CK techniques, ensuring reproducible evaluation and isolating defensive learning dynamics.</a:t>
            </a:r>
          </a:p>
        </p:txBody>
      </p:sp>
      <p:pic>
        <p:nvPicPr>
          <p:cNvPr id="4" name="Picture 3" descr="fig_9.png"/>
          <p:cNvPicPr>
            <a:picLocks noChangeAspect="1"/>
          </p:cNvPicPr>
          <p:nvPr/>
        </p:nvPicPr>
        <p:blipFill>
          <a:blip r:embed="rId2"/>
          <a:stretch>
            <a:fillRect/>
          </a:stretch>
        </p:blipFill>
        <p:spPr>
          <a:xfrm>
            <a:off x="914400" y="1828800"/>
            <a:ext cx="3955774" cy="1371600"/>
          </a:xfrm>
          <a:prstGeom prst="rect">
            <a:avLst/>
          </a:prstGeom>
        </p:spPr>
      </p:pic>
      <p:pic>
        <p:nvPicPr>
          <p:cNvPr id="5" name="Picture 4" descr="fig_10.png"/>
          <p:cNvPicPr>
            <a:picLocks noChangeAspect="1"/>
          </p:cNvPicPr>
          <p:nvPr/>
        </p:nvPicPr>
        <p:blipFill>
          <a:blip r:embed="rId3"/>
          <a:stretch>
            <a:fillRect/>
          </a:stretch>
        </p:blipFill>
        <p:spPr>
          <a:xfrm>
            <a:off x="914400" y="1828800"/>
            <a:ext cx="2176670" cy="1371600"/>
          </a:xfrm>
          <a:prstGeom prst="rect">
            <a:avLst/>
          </a:prstGeom>
        </p:spPr>
      </p:pic>
      <p:pic>
        <p:nvPicPr>
          <p:cNvPr id="6" name="Picture 5" descr="fig_11.png"/>
          <p:cNvPicPr>
            <a:picLocks noChangeAspect="1"/>
          </p:cNvPicPr>
          <p:nvPr/>
        </p:nvPicPr>
        <p:blipFill>
          <a:blip r:embed="rId4"/>
          <a:stretch>
            <a:fillRect/>
          </a:stretch>
        </p:blipFill>
        <p:spPr>
          <a:xfrm>
            <a:off x="914400" y="1828800"/>
            <a:ext cx="2076994" cy="1371600"/>
          </a:xfrm>
          <a:prstGeom prst="rect">
            <a:avLst/>
          </a:prstGeom>
        </p:spPr>
      </p:pic>
      <p:pic>
        <p:nvPicPr>
          <p:cNvPr id="7" name="Picture 6" descr="fig_12.png"/>
          <p:cNvPicPr>
            <a:picLocks noChangeAspect="1"/>
          </p:cNvPicPr>
          <p:nvPr/>
        </p:nvPicPr>
        <p:blipFill>
          <a:blip r:embed="rId5"/>
          <a:stretch>
            <a:fillRect/>
          </a:stretch>
        </p:blipFill>
        <p:spPr>
          <a:xfrm>
            <a:off x="914400" y="1828800"/>
            <a:ext cx="755374" cy="1371600"/>
          </a:xfrm>
          <a:prstGeom prst="rect">
            <a:avLst/>
          </a:prstGeom>
        </p:spPr>
      </p:pic>
      <p:pic>
        <p:nvPicPr>
          <p:cNvPr id="8" name="Picture 7" descr="fig_13.png"/>
          <p:cNvPicPr>
            <a:picLocks noChangeAspect="1"/>
          </p:cNvPicPr>
          <p:nvPr/>
        </p:nvPicPr>
        <p:blipFill>
          <a:blip r:embed="rId6"/>
          <a:stretch>
            <a:fillRect/>
          </a:stretch>
        </p:blipFill>
        <p:spPr>
          <a:xfrm>
            <a:off x="914400" y="1828800"/>
            <a:ext cx="4222679" cy="1371600"/>
          </a:xfrm>
          <a:prstGeom prst="rect">
            <a:avLst/>
          </a:prstGeom>
        </p:spPr>
      </p:pic>
      <p:pic>
        <p:nvPicPr>
          <p:cNvPr id="9" name="Picture 8" descr="fig_14.png"/>
          <p:cNvPicPr>
            <a:picLocks noChangeAspect="1"/>
          </p:cNvPicPr>
          <p:nvPr/>
        </p:nvPicPr>
        <p:blipFill>
          <a:blip r:embed="rId7"/>
          <a:stretch>
            <a:fillRect/>
          </a:stretch>
        </p:blipFill>
        <p:spPr>
          <a:xfrm>
            <a:off x="914400" y="1828800"/>
            <a:ext cx="1772292" cy="1371600"/>
          </a:xfrm>
          <a:prstGeom prst="rect">
            <a:avLst/>
          </a:prstGeom>
        </p:spPr>
      </p:pic>
      <p:pic>
        <p:nvPicPr>
          <p:cNvPr id="10" name="Picture 9" descr="fig_15.png"/>
          <p:cNvPicPr>
            <a:picLocks noChangeAspect="1"/>
          </p:cNvPicPr>
          <p:nvPr/>
        </p:nvPicPr>
        <p:blipFill>
          <a:blip r:embed="rId8"/>
          <a:stretch>
            <a:fillRect/>
          </a:stretch>
        </p:blipFill>
        <p:spPr>
          <a:xfrm>
            <a:off x="914400" y="1828800"/>
            <a:ext cx="3756991" cy="1371600"/>
          </a:xfrm>
          <a:prstGeom prst="rect">
            <a:avLst/>
          </a:prstGeom>
        </p:spPr>
      </p:pic>
      <p:pic>
        <p:nvPicPr>
          <p:cNvPr id="11" name="Picture 10" descr="fig_16.png"/>
          <p:cNvPicPr>
            <a:picLocks noChangeAspect="1"/>
          </p:cNvPicPr>
          <p:nvPr/>
        </p:nvPicPr>
        <p:blipFill>
          <a:blip r:embed="rId9"/>
          <a:stretch>
            <a:fillRect/>
          </a:stretch>
        </p:blipFill>
        <p:spPr>
          <a:xfrm>
            <a:off x="914400" y="1828800"/>
            <a:ext cx="25241387" cy="1371600"/>
          </a:xfrm>
          <a:prstGeom prst="rect">
            <a:avLst/>
          </a:prstGeom>
        </p:spPr>
      </p:pic>
      <p:pic>
        <p:nvPicPr>
          <p:cNvPr id="12" name="Picture 11" descr="fig_17.png"/>
          <p:cNvPicPr>
            <a:picLocks noChangeAspect="1"/>
          </p:cNvPicPr>
          <p:nvPr/>
        </p:nvPicPr>
        <p:blipFill>
          <a:blip r:embed="rId10"/>
          <a:stretch>
            <a:fillRect/>
          </a:stretch>
        </p:blipFill>
        <p:spPr>
          <a:xfrm>
            <a:off x="914400" y="1828800"/>
            <a:ext cx="4686300" cy="1371600"/>
          </a:xfrm>
          <a:prstGeom prst="rect">
            <a:avLst/>
          </a:prstGeom>
        </p:spPr>
      </p:pic>
      <p:pic>
        <p:nvPicPr>
          <p:cNvPr id="13" name="Picture 12" descr="fig_18.png"/>
          <p:cNvPicPr>
            <a:picLocks noChangeAspect="1"/>
          </p:cNvPicPr>
          <p:nvPr/>
        </p:nvPicPr>
        <p:blipFill>
          <a:blip r:embed="rId11"/>
          <a:stretch>
            <a:fillRect/>
          </a:stretch>
        </p:blipFill>
        <p:spPr>
          <a:xfrm>
            <a:off x="914400" y="1828800"/>
            <a:ext cx="1726058" cy="13716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Network Representation and State Space}</a:t>
            </a:r>
          </a:p>
          <a:p/>
          <a:p>
            <a:r>
              <a:t>The environment models enterprise network topologies with realistic characteristics as shown in Figure~. Networks consist of multiple subnets (demilitarized zone [DMZ], internal networks) containing a mix of real assets and strategically placed decoys.</a:t>
            </a:r>
          </a:p>
          <a:p/>
          <a:p/>
          <a:p/>
          <a:p>
            <a:r>
              <a:t>[H]</a:t>
            </a:r>
          </a:p>
          <a:p>
            <a:r>
              <a:t>\centering</a:t>
            </a:r>
          </a:p>
          <a:p>
            <a:r>
              <a:t>[</a:t>
            </a:r>
          </a:p>
          <a:p>
            <a:r>
              <a:t>    host/.style={circle, draw=blue!60, fill=blue!15, minimum size=7mm, font=\scriptsize, thick},</a:t>
            </a:r>
          </a:p>
          <a:p>
            <a:r>
              <a:t>    decoy/.style={circle, draw=orange!70, fill=orange!15, minimum size=7mm, font=\scriptsize, thick, dashed},</a:t>
            </a:r>
          </a:p>
          <a:p>
            <a:r>
              <a:t>    compromised/.style={circle, draw=red!70, fill=red!20, minimum size=7mm, font=\scriptsize, thick},</a:t>
            </a:r>
          </a:p>
          <a:p>
            <a:r>
              <a:t>    subnet/.style={rectangle, draw=gray!60, fill=gray!8, minimum width=20mm, minimum height=12mm, font=\scriptsize, thick, rounded corners=2pt, align=center},</a:t>
            </a:r>
          </a:p>
          <a:p>
            <a:r>
              <a:t>    agent/.style={rectangle, draw=black, fill=yellow!15, minimum width=18mm, minimum height=10mm, font=\scriptsize, thick, rounded corners=2pt, align=center},</a:t>
            </a:r>
          </a:p>
          <a:p>
            <a:r>
              <a:t>    firewall/.style={rectangle, draw=red!80, fill=red!20, minimum width=8mm, minimum height=15mm, font=\tiny, thick, align=center},</a:t>
            </a:r>
          </a:p>
          <a:p>
            <a:r>
              <a:t>    internet/.style={ellipse, draw=green!60, fill=green!10, minimum width=15mm, minimum height=8mm, thick, align=center, font=\scriptsize}</a:t>
            </a:r>
          </a:p>
          <a:p>
            <a:r>
              <a:t>]</a:t>
            </a:r>
          </a:p>
          <a:p/>
          <a:p>
            <a:r>
              <a:t>% Internet - top left</a:t>
            </a:r>
          </a:p>
          <a:p>
            <a:r>
              <a:t>\node[internet] (internet) at (-6, 6) {Internet};</a:t>
            </a:r>
          </a:p>
          <a:p/>
          <a:p>
            <a:r>
              <a:t>% Firewall - gateway</a:t>
            </a:r>
          </a:p>
          <a:p>
            <a:r>
              <a:t>\node[firewall] (firewall) at (-4, 6) {FW};</a:t>
            </a:r>
          </a:p>
          <a:p/>
          <a:p>
            <a:r>
              <a:t>% Network subnets - more spaced out</a:t>
            </a:r>
          </a:p>
          <a:p>
            <a:r>
              <a:t>\node[subnet] (subnet1) at (-5, 4.5) {DMZ\\ [MATH] };</a:t>
            </a:r>
          </a:p>
          <a:p>
            <a:r>
              <a:t>\node[subnet] (subnet2) at (-1, 4.5) {Internal\\ [MATH] };  </a:t>
            </a:r>
          </a:p>
          <a:p>
            <a:r>
              <a:t>\node[subnet] (subnet3) at (3, 4.5) {Critical\\ [MATH] };</a:t>
            </a:r>
          </a:p>
          <a:p/>
          <a:p>
            <a:r>
              <a:t>% Hosts - positioned above subnets to avoid overlap</a:t>
            </a:r>
          </a:p>
          <a:p>
            <a:r>
              <a:t>\node[host] (h1) at (-5.5, 5) { [MATH] };</a:t>
            </a:r>
          </a:p>
          <a:p>
            <a:r>
              <a:t>\node[decoy] (d1) at (-4.5, 5) { [MATH] };</a:t>
            </a:r>
          </a:p>
          <a:p/>
          <a:p>
            <a:r>
              <a:t>\node[host] (h2) at (-1.5, 5) { [MATH] };</a:t>
            </a:r>
          </a:p>
          <a:p>
            <a:r>
              <a:t>\node[compromised] (h3) at (-0.5, 5) { [MATH] };</a:t>
            </a:r>
          </a:p>
          <a:p/>
          <a:p>
            <a:r>
              <a:t>\node[host] (h4) at (2.5, 5) { [MATH] };</a:t>
            </a:r>
          </a:p>
          <a:p>
            <a:r>
              <a:t>\node[host] (h5) at (3.5, 5) { [MATH] };</a:t>
            </a:r>
          </a:p>
          <a:p/>
          <a:p>
            <a:r>
              <a:t>% Network connections</a:t>
            </a:r>
          </a:p>
          <a:p>
            <a:r>
              <a:t>\draw[thick, gray!60] (internet) -- (firewall);</a:t>
            </a:r>
          </a:p>
          <a:p>
            <a:r>
              <a:t>\draw[thick, gray!60] (firewall) -- (-5, 3.8);</a:t>
            </a:r>
          </a:p>
          <a:p>
            <a:r>
              <a:t>\draw[thick, gray!60] (-5, 3.8) -- (-1, 3.8) -- (3, 3.8);</a:t>
            </a:r>
          </a:p>
          <a:p>
            <a:r>
              <a:t>\node[font=\scriptsize] at (-1, 3.5) {Internal Network};</a:t>
            </a:r>
          </a:p>
          <a:p/>
          <a:p>
            <a:r>
              <a:t>% Agents - more separated</a:t>
            </a:r>
          </a:p>
          <a:p>
            <a:r>
              <a:t>\node[agent, fill=red!15] (red) at (-5, 1.5) {\\Fixed  [MATH] };</a:t>
            </a:r>
          </a:p>
          <a:p>
            <a:r>
              <a:t>\node[agent, fill=blue!15] (blue) at (3, 1.5) {\\PPO  [MATH] };</a:t>
            </a:r>
          </a:p>
          <a:p/>
          <a:p>
            <a:r>
              <a:t>% Key interactions - cleaner paths to avoid subnet overlap</a:t>
            </a:r>
          </a:p>
          <a:p>
            <a:r>
              <a:t>\draw[-&gt;, thick, blue!70] (blue) to[out=120, in=270] (d1) node[near end, right, font=\tiny] {deploy};</a:t>
            </a:r>
          </a:p>
          <a:p>
            <a:r>
              <a:t>\draw[-&gt;, thick, red!70, dashed] (red) to[out=60, in=270] (h3) node[near end, left, font=\tiny] {attack};</a:t>
            </a:r>
          </a:p>
          <a:p/>
          <a:p>
            <a:r>
              <a:t>% Essential state info</a:t>
            </a:r>
          </a:p>
          <a:p>
            <a:r>
              <a:t>\node[font=\tiny] at (-5, 0.8) {MITRE ATT\&amp;CK};</a:t>
            </a:r>
          </a:p>
          <a:p>
            <a:r>
              <a:t>\node[font=\tiny] at (3, 0.8) { [MATH] };</a:t>
            </a:r>
          </a:p>
          <a:p/>
          <a:p>
            <a:r>
              <a:t>% Reward system - larger box to fit text properly</a:t>
            </a:r>
          </a:p>
          <a:p>
            <a:r>
              <a:t>\node[rectangle, draw=orange!70, fill=orange!10, minimum width=40mm, minimum height=12mm, rounded corners=3pt] at (-1, -0.5) (reward) {};</a:t>
            </a:r>
          </a:p>
          <a:p>
            <a:r>
              <a:t>\node[font=\scriptsize, align=center] at (reward.center) {\\Blue: +15/-10, Red: +10/-5};</a:t>
            </a:r>
          </a:p>
          <a:p/>
          <a:p>
            <a:r>
              <a:t>% Reward connections - cleaner paths</a:t>
            </a:r>
          </a:p>
          <a:p>
            <a:r>
              <a:t>\draw[&lt;-&gt;, orange!70, thick] (red) to[out=270, in=200] (reward);</a:t>
            </a:r>
          </a:p>
          <a:p>
            <a:r>
              <a:t>\draw[&lt;-&gt;, orange!70, thick] (blue) to[out=270, in=340] (reward);</a:t>
            </a:r>
          </a:p>
          <a:p/>
          <a:p>
            <a:r>
              <a:t>% Legend - moved further right with more space</a:t>
            </a:r>
          </a:p>
          <a:p>
            <a:r>
              <a:t>\node[font=\scriptsize] at (6, 3.5) {};</a:t>
            </a:r>
          </a:p>
          <a:p>
            <a:r>
              <a:t>\node[host] at (5.2, 3.1) {}; \node[right, font=\scriptsize] at (5.5, 3.1) {Clean Host};</a:t>
            </a:r>
          </a:p>
          <a:p>
            <a:r>
              <a:t>\node[decoy] at (5.2, 2.8) {}; \node[right, font=\scriptsize] at (5.5, 2.8) {Decoy Host};</a:t>
            </a:r>
          </a:p>
          <a:p>
            <a:r>
              <a:t>\node[compromised] at (5.2, 2.5) {}; \node[right, font=\scriptsize] at (5.5, 2.5) {Compromised};</a:t>
            </a:r>
          </a:p>
          <a:p>
            <a:r>
              <a:t>%\node[firewall] at (5.2, 2.2) {}; \node[right, font=\scriptsize] at (5.5, 2.2) {Firewall};</a:t>
            </a:r>
          </a:p>
          <a:p/>
          <a:p>
            <a:r>
              <a:t>% Environment info</a:t>
            </a:r>
          </a:p>
          <a:p>
            <a:r>
              <a:t>\node[font=\tiny, align=center] at (6, 1.5) {Scale:\\15-200 hosts\\3-8 subnets};</a:t>
            </a:r>
          </a:p>
          <a:p/>
          <a:p/>
          <a:p/>
          <a:p/>
          <a:p/>
          <a:p/>
          <a:p>
            <a:r>
              <a:t>[H]</a:t>
            </a:r>
          </a:p>
          <a:p>
            <a:r>
              <a:t>\centering</a:t>
            </a:r>
          </a:p>
          <a:p>
            <a:r>
              <a:t>[</a:t>
            </a:r>
          </a:p>
          <a:p>
            <a:r>
              <a:t>    font=\small,</a:t>
            </a:r>
          </a:p>
          <a:p>
            <a:r>
              <a:t>    % Network device styles</a:t>
            </a:r>
          </a:p>
          <a:p>
            <a:r>
              <a:t>    server/.style={</a:t>
            </a:r>
          </a:p>
          <a:p>
            <a:r>
              <a:t>        draw=blue!70,</a:t>
            </a:r>
          </a:p>
          <a:p>
            <a:r>
              <a:t>        fill=blue!10,</a:t>
            </a:r>
          </a:p>
          <a:p>
            <a:r>
              <a:t>        rectangle,</a:t>
            </a:r>
          </a:p>
          <a:p>
            <a:r>
              <a:t>        minimum width=0.8cm,</a:t>
            </a:r>
          </a:p>
          <a:p>
            <a:r>
              <a:t>        minimum height=0.6cm,</a:t>
            </a:r>
          </a:p>
          <a:p>
            <a:r>
              <a:t>        rounded corners=2pt</a:t>
            </a:r>
          </a:p>
          <a:p>
            <a:r>
              <a:t>    },</a:t>
            </a:r>
          </a:p>
          <a:p>
            <a:r>
              <a:t>    workstation/.style={</a:t>
            </a:r>
          </a:p>
          <a:p>
            <a:r>
              <a:t>        draw=gray!70,</a:t>
            </a:r>
          </a:p>
          <a:p>
            <a:r>
              <a:t>        fill=gray!10,</a:t>
            </a:r>
          </a:p>
          <a:p>
            <a:r>
              <a:t>        rectangle,</a:t>
            </a:r>
          </a:p>
          <a:p>
            <a:r>
              <a:t>        minimum width=0.7cm,</a:t>
            </a:r>
          </a:p>
          <a:p>
            <a:r>
              <a:t>        minimum height=0.5cm,</a:t>
            </a:r>
          </a:p>
          <a:p>
            <a:r>
              <a:t>        rounded corners=2pt</a:t>
            </a:r>
          </a:p>
          <a:p>
            <a:r>
              <a:t>    },</a:t>
            </a:r>
          </a:p>
          <a:p>
            <a:r>
              <a:t>    decoy/.style={</a:t>
            </a:r>
          </a:p>
          <a:p>
            <a:r>
              <a:t>        draw=yellow!80,</a:t>
            </a:r>
          </a:p>
          <a:p>
            <a:r>
              <a:t>        fill=yellow!20,</a:t>
            </a:r>
          </a:p>
          <a:p>
            <a:r>
              <a:t>        rectangle,</a:t>
            </a:r>
          </a:p>
          <a:p>
            <a:r>
              <a:t>        minimum width=0.8cm,</a:t>
            </a:r>
          </a:p>
          <a:p>
            <a:r>
              <a:t>        minimum height=0.6cm,</a:t>
            </a:r>
          </a:p>
          <a:p>
            <a:r>
              <a:t>        rounded corners=2pt,</a:t>
            </a:r>
          </a:p>
          <a:p>
            <a:r>
              <a:t>        line width=2pt</a:t>
            </a:r>
          </a:p>
          <a:p>
            <a:r>
              <a:t>    },</a:t>
            </a:r>
          </a:p>
          <a:p>
            <a:r>
              <a:t>    router/.style={</a:t>
            </a:r>
          </a:p>
          <a:p>
            <a:r>
              <a:t>        draw=orange!70,</a:t>
            </a:r>
          </a:p>
          <a:p>
            <a:r>
              <a:t>        fill=orange!15,</a:t>
            </a:r>
          </a:p>
          <a:p>
            <a:r>
              <a:t>        circle,</a:t>
            </a:r>
          </a:p>
          <a:p>
            <a:r>
              <a:t>        minimum size=1cm</a:t>
            </a:r>
          </a:p>
          <a:p>
            <a:r>
              <a:t>    },</a:t>
            </a:r>
          </a:p>
          <a:p>
            <a:r>
              <a:t>    switch/.style={</a:t>
            </a:r>
          </a:p>
          <a:p>
            <a:r>
              <a:t>        draw=green!70,</a:t>
            </a:r>
          </a:p>
          <a:p>
            <a:r>
              <a:t>        fill=green!10,</a:t>
            </a:r>
          </a:p>
          <a:p>
            <a:r>
              <a:t>        rectangle,</a:t>
            </a:r>
          </a:p>
          <a:p>
            <a:r>
              <a:t>        minimum width=1.2cm,</a:t>
            </a:r>
          </a:p>
          <a:p>
            <a:r>
              <a:t>        minimum height=0.4cm</a:t>
            </a:r>
          </a:p>
          <a:p>
            <a:r>
              <a:t>    },</a:t>
            </a:r>
          </a:p>
          <a:p>
            <a:r>
              <a:t>    subnet/.style={</a:t>
            </a:r>
          </a:p>
          <a:p>
            <a:r>
              <a:t>        draw=gray!40,</a:t>
            </a:r>
          </a:p>
          <a:p>
            <a:r>
              <a:t>        fill=gray!5,</a:t>
            </a:r>
          </a:p>
          <a:p>
            <a:r>
              <a:t>        rounded corners=8pt,</a:t>
            </a:r>
          </a:p>
          <a:p>
            <a:r>
              <a:t>        line width=1pt,</a:t>
            </a:r>
          </a:p>
          <a:p>
            <a:r>
              <a:t>        dashed</a:t>
            </a:r>
          </a:p>
          <a:p>
            <a:r>
              <a:t>    },</a:t>
            </a:r>
          </a:p>
          <a:p>
            <a:r>
              <a:t>    agent/.style={</a:t>
            </a:r>
          </a:p>
          <a:p>
            <a:r>
              <a:t>        draw=purple!70,</a:t>
            </a:r>
          </a:p>
          <a:p>
            <a:r>
              <a:t>        fill=purple!10,</a:t>
            </a:r>
          </a:p>
          <a:p>
            <a:r>
              <a:t>        rounded corners=5pt,</a:t>
            </a:r>
          </a:p>
          <a:p>
            <a:r>
              <a:t>        minimum width=2.5cm,</a:t>
            </a:r>
          </a:p>
          <a:p>
            <a:r>
              <a:t>        minimum height=1.5cm,</a:t>
            </a:r>
          </a:p>
          <a:p>
            <a:r>
              <a:t>        align=center,</a:t>
            </a:r>
          </a:p>
          <a:p>
            <a:r>
              <a:t>        line width=2pt</a:t>
            </a:r>
          </a:p>
          <a:p>
            <a:r>
              <a:t>    },</a:t>
            </a:r>
          </a:p>
          <a:p>
            <a:r>
              <a:t>    attack/.style={</a:t>
            </a:r>
          </a:p>
          <a:p>
            <a:r>
              <a:t>        -stealth,</a:t>
            </a:r>
          </a:p>
          <a:p>
            <a:r>
              <a:t>        red!70,</a:t>
            </a:r>
          </a:p>
          <a:p>
            <a:r>
              <a:t>        line width=2pt,</a:t>
            </a:r>
          </a:p>
          <a:p>
            <a:r>
              <a:t>        dashed</a:t>
            </a:r>
          </a:p>
          <a:p>
            <a:r>
              <a:t>    },</a:t>
            </a:r>
          </a:p>
          <a:p>
            <a:r>
              <a:t>    defense/.style={</a:t>
            </a:r>
          </a:p>
          <a:p>
            <a:r>
              <a:t>        -stealth,</a:t>
            </a:r>
          </a:p>
          <a:p>
            <a:r>
              <a:t>        blue!70,</a:t>
            </a:r>
          </a:p>
          <a:p>
            <a:r>
              <a:t>        line width=2pt</a:t>
            </a:r>
          </a:p>
          <a:p>
            <a:r>
              <a:t>    },</a:t>
            </a:r>
          </a:p>
          <a:p>
            <a:r>
              <a:t>    alert/.style={</a:t>
            </a:r>
          </a:p>
          <a:p>
            <a:r>
              <a:t>        -stealth,</a:t>
            </a:r>
          </a:p>
          <a:p>
            <a:r>
              <a:t>        orange!70,</a:t>
            </a:r>
          </a:p>
          <a:p>
            <a:r>
              <a:t>        line width=1.5pt,</a:t>
            </a:r>
          </a:p>
          <a:p>
            <a:r>
              <a:t>        dotted</a:t>
            </a:r>
          </a:p>
          <a:p>
            <a:r>
              <a:t>    }</a:t>
            </a:r>
          </a:p>
          <a:p>
            <a:r>
              <a:t>]</a:t>
            </a:r>
          </a:p>
          <a:p/>
          <a:p>
            <a:r>
              <a:t>% DMZ Subnet</a:t>
            </a:r>
          </a:p>
          <a:p>
            <a:r>
              <a:t>\node[subnet, minimum width=4cm, minimum height=2.5cm] at (-3,2) (dmz_subnet) {};</a:t>
            </a:r>
          </a:p>
          <a:p>
            <a:r>
              <a:t>\node[above left] at (dmz_subnet.north west) {};</a:t>
            </a:r>
          </a:p>
          <a:p/>
          <a:p>
            <a:r>
              <a:t>% DMZ devices</a:t>
            </a:r>
          </a:p>
          <a:p>
            <a:r>
              <a:t>\node[server] at (-4,2.5) (web1) {};</a:t>
            </a:r>
          </a:p>
          <a:p>
            <a:r>
              <a:t>\node[below, font=\tiny] at (web1.south) {Web};</a:t>
            </a:r>
          </a:p>
          <a:p>
            <a:r>
              <a:t>\node[server] at (-3.2,2.5) (web2) {};</a:t>
            </a:r>
          </a:p>
          <a:p>
            <a:r>
              <a:t>\node[below, font=\tiny] at (web2.south) {API};</a:t>
            </a:r>
          </a:p>
          <a:p>
            <a:r>
              <a:t>\node[decoy] at (-2.4,2.5) (decoy1) {};</a:t>
            </a:r>
          </a:p>
          <a:p>
            <a:r>
              <a:t>\node[below, font=\tiny] at (decoy1.south) {Decoy};</a:t>
            </a:r>
          </a:p>
          <a:p>
            <a:r>
              <a:t>\node[server] at (-3.6,1.5) (lb) {};</a:t>
            </a:r>
          </a:p>
          <a:p>
            <a:r>
              <a:t>\node[below, font=\tiny] at (lb.south) {LB};</a:t>
            </a:r>
          </a:p>
          <a:p/>
          <a:p>
            <a:r>
              <a:t>% Internal Subnet</a:t>
            </a:r>
          </a:p>
          <a:p>
            <a:r>
              <a:t>\node[subnet, minimum width=5cm, minimum height=2.5cm] at (2,2) (int_subnet) {};</a:t>
            </a:r>
          </a:p>
          <a:p>
            <a:r>
              <a:t>\node[above left] at (int_subnet.north west) {};</a:t>
            </a:r>
          </a:p>
          <a:p/>
          <a:p>
            <a:r>
              <a:t>% Internal devices</a:t>
            </a:r>
          </a:p>
          <a:p>
            <a:r>
              <a:t>\node[workstation] at (0.5,2.8) (ws1) {};</a:t>
            </a:r>
          </a:p>
          <a:p>
            <a:r>
              <a:t>\node[below, font=\tiny] at (ws1.south) {WS1};</a:t>
            </a:r>
          </a:p>
          <a:p>
            <a:r>
              <a:t>\node[workstation] at (1.3,2.8) (ws2) {};</a:t>
            </a:r>
          </a:p>
          <a:p>
            <a:r>
              <a:t>\node[below, font=\tiny] at (ws2.south) {WS2};</a:t>
            </a:r>
          </a:p>
          <a:p>
            <a:r>
              <a:t>\node[workstation] at (2.1,2.8) (ws3) {};</a:t>
            </a:r>
          </a:p>
          <a:p>
            <a:r>
              <a:t>\node[below, font=\tiny] at (ws3.south) {WS3};</a:t>
            </a:r>
          </a:p>
          <a:p>
            <a:r>
              <a:t>\node[decoy] at (2.9,2.8) (decoy2) {};</a:t>
            </a:r>
          </a:p>
          <a:p>
            <a:r>
              <a:t>\node[below, font=\tiny] at (decoy2.south) {Decoy};</a:t>
            </a:r>
          </a:p>
          <a:p>
            <a:r>
              <a:t>\node[server] at (1.4,1.8) (file) {};</a:t>
            </a:r>
          </a:p>
          <a:p>
            <a:r>
              <a:t>\node[below, font=\tiny] at (file.south) {File Srv};</a:t>
            </a:r>
          </a:p>
          <a:p>
            <a:r>
              <a:t>\node[workstation] at (3.3,1.8) (ws4) {};</a:t>
            </a:r>
          </a:p>
          <a:p>
            <a:r>
              <a:t>\node[below, font=\tiny] at (ws4.south) {WS4};</a:t>
            </a:r>
          </a:p>
          <a:p/>
          <a:p>
            <a:r>
              <a:t>% Critical Assets Subnet</a:t>
            </a:r>
          </a:p>
          <a:p>
            <a:r>
              <a:t>\node[subnet, minimum width=3cm, minimum height=2cm] at (6,2.5) (crit_subnet) {};</a:t>
            </a:r>
          </a:p>
          <a:p>
            <a:r>
              <a:t>\node[above left] at (crit_subnet.north west) {};</a:t>
            </a:r>
          </a:p>
          <a:p/>
          <a:p>
            <a:r>
              <a:t>% Critical devices</a:t>
            </a:r>
          </a:p>
          <a:p>
            <a:r>
              <a:t>\node[server] at (5.8,3) (db) {};</a:t>
            </a:r>
          </a:p>
          <a:p>
            <a:r>
              <a:t>\node[below, font=\tiny] at (db.south) {DB};</a:t>
            </a:r>
          </a:p>
          <a:p>
            <a:r>
              <a:t>\node[server] at (6.5,3) (dc) {};</a:t>
            </a:r>
          </a:p>
          <a:p>
            <a:r>
              <a:t>\node[below, font=\tiny] at (dc.south) {DC};</a:t>
            </a:r>
          </a:p>
          <a:p>
            <a:r>
              <a:t>\node[server] at (6.2,2.2) (backup) {};</a:t>
            </a:r>
          </a:p>
          <a:p>
            <a:r>
              <a:t>\node[below, font=\tiny] at (backup.south) {Backup};</a:t>
            </a:r>
          </a:p>
          <a:p/>
          <a:p>
            <a:r>
              <a:t>% Network infrastructure</a:t>
            </a:r>
          </a:p>
          <a:p>
            <a:r>
              <a:t>\node[router] at (0,0) (router) {};</a:t>
            </a:r>
          </a:p>
          <a:p>
            <a:r>
              <a:t>\node[below] at (router.south) {};</a:t>
            </a:r>
          </a:p>
          <a:p/>
          <a:p>
            <a:r>
              <a:t>\node[switch] at (-3,0.5) (sw1) {};</a:t>
            </a:r>
          </a:p>
          <a:p>
            <a:r>
              <a:t>\node[below, font=\tiny] at (sw1.south) {DMZ Switch};</a:t>
            </a:r>
          </a:p>
          <a:p/>
          <a:p>
            <a:r>
              <a:t>\node[switch] at (2,0.5) (sw2) {};</a:t>
            </a:r>
          </a:p>
          <a:p>
            <a:r>
              <a:t>\node[below, font=\tiny] at (sw2.south) {Internal Switch};</a:t>
            </a:r>
          </a:p>
          <a:p/>
          <a:p>
            <a:r>
              <a:t>\node[switch] at (6,1) (sw3) {};</a:t>
            </a:r>
          </a:p>
          <a:p>
            <a:r>
              <a:t>\node[below, font=\tiny] at (sw3.south) {Core Switch};</a:t>
            </a:r>
          </a:p>
          <a:p/>
          <a:p>
            <a:r>
              <a:t>% Network connections</a:t>
            </a:r>
          </a:p>
          <a:p>
            <a:r>
              <a:t>\draw[thick, gray!60] (router) -- (sw1);</a:t>
            </a:r>
          </a:p>
          <a:p>
            <a:r>
              <a:t>\draw[thick, gray!60] (router) -- (sw2);</a:t>
            </a:r>
          </a:p>
          <a:p>
            <a:r>
              <a:t>\draw[thick, gray!60] (router) -- (sw3);</a:t>
            </a:r>
          </a:p>
          <a:p/>
          <a:p>
            <a:r>
              <a:t>% Switch to subnet connections</a:t>
            </a:r>
          </a:p>
          <a:p>
            <a:r>
              <a:t>\draw[thick, gray!40] (sw1) -- (-3,1.2);</a:t>
            </a:r>
          </a:p>
          <a:p>
            <a:r>
              <a:t>\draw[thick, gray!40] (sw2) -- (2,1.2);</a:t>
            </a:r>
          </a:p>
          <a:p>
            <a:r>
              <a:t>\draw[thick, gray!40] (sw3) -- (6,1.5);</a:t>
            </a:r>
          </a:p>
          <a:p/>
          <a:p>
            <a:r>
              <a:t>% Red Agent (Attacker)</a:t>
            </a:r>
          </a:p>
          <a:p>
            <a:r>
              <a:t>\node[agent, fill=red!15, draw=red!70] at (-6,-1) (red_agent) {</a:t>
            </a:r>
          </a:p>
          <a:p>
            <a:r>
              <a:t>    \\</a:t>
            </a:r>
          </a:p>
          <a:p>
            <a:r>
              <a:t>    \\[2pt]</a:t>
            </a:r>
          </a:p>
          <a:p>
            <a:r>
              <a:t>    \footnotesize MITRE ATT\&amp;CK\\</a:t>
            </a:r>
          </a:p>
          <a:p>
            <a:r>
              <a:t>    \footnotesize Fixed Policy</a:t>
            </a:r>
          </a:p>
          <a:p>
            <a:r>
              <a:t>};</a:t>
            </a:r>
          </a:p>
          <a:p/>
          <a:p>
            <a:r>
              <a:t>% Blue Agent (Defender)</a:t>
            </a:r>
          </a:p>
          <a:p>
            <a:r>
              <a:t>\node[agent, fill=blue!15, draw=blue!70] at (8,-1) (blue_agent) {</a:t>
            </a:r>
          </a:p>
          <a:p>
            <a:r>
              <a:t>    \\</a:t>
            </a:r>
          </a:p>
          <a:p>
            <a:r>
              <a:t>    \\[2pt]</a:t>
            </a:r>
          </a:p>
          <a:p>
            <a:r>
              <a:t>    \footnotesize PPO Learning\\</a:t>
            </a:r>
          </a:p>
          <a:p>
            <a:r>
              <a:t>    \footnotesize Decoy Deployment</a:t>
            </a:r>
          </a:p>
          <a:p>
            <a:r>
              <a:t>};</a:t>
            </a:r>
          </a:p>
          <a:p/>
          <a:p>
            <a:r>
              <a:t>% Attack flow arrows</a:t>
            </a:r>
          </a:p>
          <a:p>
            <a:r>
              <a:t>\draw[attack] (red_agent) to[bend left=20] (web1);</a:t>
            </a:r>
          </a:p>
          <a:p>
            <a:r>
              <a:t>\draw[attack] (red_agent) to[bend left=25] (ws2);</a:t>
            </a:r>
          </a:p>
          <a:p>
            <a:r>
              <a:t>\draw[attack, red!50] (ws2) to[bend left=15] (file);</a:t>
            </a:r>
          </a:p>
          <a:p>
            <a:r>
              <a:t>\draw[attack, red!50] (file) to[bend left=10] (db);</a:t>
            </a:r>
          </a:p>
          <a:p/>
          <a:p>
            <a:r>
              <a:t>% Defense actions</a:t>
            </a:r>
          </a:p>
          <a:p>
            <a:r>
              <a:t>\draw[defense] (blue_agent) to[bend right=30] (decoy1);</a:t>
            </a:r>
          </a:p>
          <a:p>
            <a:r>
              <a:t>\draw[defense] (blue_agent) to[bend right=20] (decoy2);</a:t>
            </a:r>
          </a:p>
          <a:p/>
          <a:p>
            <a:r>
              <a:t>% Alert flows</a:t>
            </a:r>
          </a:p>
          <a:p>
            <a:r>
              <a:t>\draw[alert] (decoy1) to[bend right=40] (blue_agent);</a:t>
            </a:r>
          </a:p>
          <a:p>
            <a:r>
              <a:t>\draw[alert] (ws2) to[bend right=25] (blue_agent);</a:t>
            </a:r>
          </a:p>
          <a:p>
            <a:r>
              <a:t>\draw[alert] (file) to[bend right=15] (blue_agent);</a:t>
            </a:r>
          </a:p>
          <a:p/>
          <a:p>
            <a:r>
              <a:t>% Environment boundary</a:t>
            </a:r>
          </a:p>
          <a:p>
            <a:r>
              <a:t>\draw[thick, black!30, rounded corners=10pt] </a:t>
            </a:r>
          </a:p>
          <a:p>
            <a:r>
              <a:t>    (-7,-2.5) rectangle (9,4.5);</a:t>
            </a:r>
          </a:p>
          <a:p>
            <a:r>
              <a:t>\node[above, font=\Large] at (1,4.3) {};</a:t>
            </a:r>
          </a:p>
          <a:p/>
          <a:p>
            <a:r>
              <a:t>% Legend</a:t>
            </a:r>
          </a:p>
          <a:p>
            <a:r>
              <a:t>\node[draw=black!50, fill=white, rounded corners=3pt, </a:t>
            </a:r>
          </a:p>
          <a:p>
            <a:r>
              <a:t>      align=left, font=\tiny] at (-6,3.5) {</a:t>
            </a:r>
          </a:p>
          <a:p>
            <a:r>
              <a:t>    \\</a:t>
            </a:r>
          </a:p>
          <a:p>
            <a:r>
              <a:t>    \tikz\node[server,scale=0.5]{}; Server\\</a:t>
            </a:r>
          </a:p>
          <a:p>
            <a:r>
              <a:t>    \tikz\node[workstation,scale=0.5]{}; Workstation\\</a:t>
            </a:r>
          </a:p>
          <a:p>
            <a:r>
              <a:t>    \tikz\node[decoy,scale=0.5]{}; Decoy/Honeypot\\</a:t>
            </a:r>
          </a:p>
          <a:p>
            <a:r>
              <a:t>    { [MATH] } Attack Path\\</a:t>
            </a:r>
          </a:p>
          <a:p>
            <a:r>
              <a:t>    { [MATH] } Defense Action\\</a:t>
            </a:r>
          </a:p>
          <a:p>
            <a:r>
              <a:t>    { [MATH] } Alert Signal</a:t>
            </a:r>
          </a:p>
          <a:p>
            <a:r>
              <a:t>};</a:t>
            </a:r>
          </a:p>
          <a:p/>
          <a:p>
            <a:r>
              <a:t>% Network stats</a:t>
            </a:r>
          </a:p>
          <a:p>
            <a:r>
              <a:t>\node[below, font=\footnotesize, gray!70] at (1,-2.2) {</a:t>
            </a:r>
          </a:p>
          <a:p>
            <a:r>
              <a:t>     15-200 hosts |  3-8 |  Dynamic deployment</a:t>
            </a:r>
          </a:p>
          <a:p>
            <a:r>
              <a:t>};</a:t>
            </a:r>
          </a:p>
          <a:p/>
          <a:p/>
          <a:p/>
          <a:p/>
          <a:p/>
          <a:p/>
          <a:p/>
          <a:p/>
          <a:p/>
          <a:p>
            <a:r>
              <a:t>[H]</a:t>
            </a:r>
          </a:p>
          <a:p>
            <a:r>
              <a:t>\centering</a:t>
            </a:r>
          </a:p>
          <a:p>
            <a:r>
              <a:t>[</a:t>
            </a:r>
          </a:p>
          <a:p>
            <a:r>
              <a:t>    host/.style={circle, draw=blue!60, fill=blue!15, minimum size=7mm, font=\scriptsize, thick},</a:t>
            </a:r>
          </a:p>
          <a:p>
            <a:r>
              <a:t>    decoy/.style={circle, draw=orange!70, fill=orange!15, minimum size=7mm, font=\scriptsize, thick, dashed},</a:t>
            </a:r>
          </a:p>
          <a:p>
            <a:r>
              <a:t>    compromised/.style={circle, draw=red!70, fill=red!20, minimum size=7mm, font=\scriptsize, thick},</a:t>
            </a:r>
          </a:p>
          <a:p>
            <a:r>
              <a:t>    subnet/.style={rectangle, draw=gray!50, fill=gray!8, minimum width=25mm, minimum height=15mm, thick, rounded corners=4pt, dashed},</a:t>
            </a:r>
          </a:p>
          <a:p>
            <a:r>
              <a:t>    agentRed/.style={rectangle, draw=red!70, fill=red!15, minimum width=22mm, minimum height=10mm, font=\scriptsize, ultra thick, rounded corners=3pt},</a:t>
            </a:r>
          </a:p>
          <a:p>
            <a:r>
              <a:t>    agentBlue/.style={rectangle, draw=blue!70, fill=blue!15, minimum width=22mm, minimum height=10mm, font=\scriptsize, ultra thick, rounded corners=3pt},</a:t>
            </a:r>
          </a:p>
          <a:p>
            <a:r>
              <a:t>    firewall/.style={rectangle, draw=red!80, fill=red!20, minimum width=8mm, minimum height=15mm, font=\tiny, thick},</a:t>
            </a:r>
          </a:p>
          <a:p>
            <a:r>
              <a:t>    internet/.style={cloud, cloud puffs=10, draw=green!60, fill=green!10, minimum width=15mm, thick, transform shape, yscale=0.6, shape border uses incircle, align=center, font=\scriptsize}</a:t>
            </a:r>
          </a:p>
          <a:p>
            <a:r>
              <a:t>]</a:t>
            </a:r>
          </a:p>
          <a:p/>
          <a:p>
            <a:r>
              <a:t>% Internet - top left</a:t>
            </a:r>
          </a:p>
          <a:p>
            <a:r>
              <a:t>\node[internet] (internet) at (-6, 6) {Internet};</a:t>
            </a:r>
          </a:p>
          <a:p/>
          <a:p>
            <a:r>
              <a:t>% Firewall</a:t>
            </a:r>
          </a:p>
          <a:p>
            <a:r>
              <a:t>\node[firewall] (firewall) at (-4, 6) {FW};</a:t>
            </a:r>
          </a:p>
          <a:p/>
          <a:p>
            <a:r>
              <a:t>% Subnets</a:t>
            </a:r>
          </a:p>
          <a:p>
            <a:r>
              <a:t>\node[subnet, label=below:{DMZ  [MATH] }] (subnet1) at (-5, 4.5) {};</a:t>
            </a:r>
          </a:p>
          <a:p>
            <a:r>
              <a:t>\node[subnet, label=below:{Internal  [MATH] }] (subnet2) at (-1, 4.5) {};</a:t>
            </a:r>
          </a:p>
          <a:p>
            <a:r>
              <a:t>\node[subnet, label=below:{Critical  [MATH] }] (subnet3) at (3, 4.5) {};</a:t>
            </a:r>
          </a:p>
          <a:p/>
          <a:p>
            <a:r>
              <a:t>% Hosts</a:t>
            </a:r>
          </a:p>
          <a:p>
            <a:r>
              <a:t>\node[host] (h1) at (-5.6, 5) { [MATH] };</a:t>
            </a:r>
          </a:p>
          <a:p>
            <a:r>
              <a:t>\node[decoy] (d1) at (-4.4, 5) { [MATH] };</a:t>
            </a:r>
          </a:p>
          <a:p/>
          <a:p>
            <a:r>
              <a:t>\node[host] (h2) at (-1.6, 5) { [MATH] };</a:t>
            </a:r>
          </a:p>
          <a:p>
            <a:r>
              <a:t>\node[compromised] (h3) at (-0.4, 5) { [MATH] };</a:t>
            </a:r>
          </a:p>
          <a:p/>
          <a:p>
            <a:r>
              <a:t>\node[host] (h4) at (2.4, 5) { [MATH] };</a:t>
            </a:r>
          </a:p>
          <a:p>
            <a:r>
              <a:t>\node[host] (h5) at (3.6, 5) { [MATH] };</a:t>
            </a:r>
          </a:p>
          <a:p/>
          <a:p>
            <a:r>
              <a:t>% Network backbone</a:t>
            </a:r>
          </a:p>
          <a:p>
            <a:r>
              <a:t>\draw[thick, gray!60] (internet) -- (firewall);</a:t>
            </a:r>
          </a:p>
          <a:p>
            <a:r>
              <a:t>\draw[thick, gray!60] (firewall) -- (-5, 3.6) -- (-1, 3.6) -- (3, 3.6);</a:t>
            </a:r>
          </a:p>
          <a:p>
            <a:r>
              <a:t>\node[font=\scriptsize] at (-1, 3.3) {Internal Network};</a:t>
            </a:r>
          </a:p>
          <a:p/>
          <a:p>
            <a:r>
              <a:t>% Agents</a:t>
            </a:r>
          </a:p>
          <a:p>
            <a:r>
              <a:t>\node[agentRed, align=center] (red) at (-5, 1.5) {\\  [MATH] };</a:t>
            </a:r>
          </a:p>
          <a:p>
            <a:r>
              <a:t>\node[agentBlue, align=center] (blue) at (3, 1.5) {\\  [MATH] };</a:t>
            </a:r>
          </a:p>
          <a:p/>
          <a:p>
            <a:r>
              <a:t>% Interactions</a:t>
            </a:r>
          </a:p>
          <a:p>
            <a:r>
              <a:t>\draw[-&gt;, thick, blue!70] (blue) to[out=120, in=270] (d1) node[near end, right, font=\tiny] {deploy};</a:t>
            </a:r>
          </a:p>
          <a:p>
            <a:r>
              <a:t>\draw[-&gt;, thick, red!70, dashed] (red) to[out=60, in=270] (h3) node[near end, left, font=\tiny] {attack};</a:t>
            </a:r>
          </a:p>
          <a:p/>
          <a:p>
            <a:r>
              <a:t>% State/Info</a:t>
            </a:r>
          </a:p>
          <a:p>
            <a:r>
              <a:t>\node[font=\tiny] at (-5, 0.8) {MITRE ATT\&amp;CK};</a:t>
            </a:r>
          </a:p>
          <a:p>
            <a:r>
              <a:t>\node[font=\tiny] at (3, 0.8) { [MATH] };</a:t>
            </a:r>
          </a:p>
          <a:p/>
          <a:p>
            <a:r>
              <a:t>% Rewards</a:t>
            </a:r>
          </a:p>
          <a:p>
            <a:r>
              <a:t>\node[rectangle, draw=orange!70, fill=orange!10, minimum width=45mm, rounded corners=3pt] at (-1, -0.5) (reward) {};</a:t>
            </a:r>
          </a:p>
          <a:p>
            <a:r>
              <a:t>\node[font=\scriptsize, align=center] at (reward.center) {\\Blue: +15/-10 \quad Red: +10/-5};</a:t>
            </a:r>
          </a:p>
          <a:p/>
          <a:p>
            <a:r>
              <a:t>\draw[&lt;-&gt;, orange!70, thick] (red) -- (reward);</a:t>
            </a:r>
          </a:p>
          <a:p>
            <a:r>
              <a:t>\draw[&lt;-&gt;, orange!70, thick] (blue) -- (reward);</a:t>
            </a:r>
          </a:p>
          <a:p/>
          <a:p>
            <a:r>
              <a:t>% Legend box</a:t>
            </a:r>
          </a:p>
          <a:p>
            <a:r>
              <a:t>\node[rectangle, draw=black!40, fill=white, rounded corners=3pt, inner sep=2mm] at (6, 3) (legend) {};</a:t>
            </a:r>
          </a:p>
          <a:p>
            <a:r>
              <a:t>\node[font=\scriptsize, anchor=north west] at (legend.north west) {};</a:t>
            </a:r>
          </a:p>
          <a:p>
            <a:r>
              <a:t>\node[host] at (5.5, 2.6) {}; \node[right, font=\scriptsize] at (5.8, 2.6) {Clean Host};</a:t>
            </a:r>
          </a:p>
          <a:p>
            <a:r>
              <a:t>\node[decoy] at (5.5, 2.3) {}; \node[right, font=\scriptsize] at (5.8, 2.3) {Decoy Host};</a:t>
            </a:r>
          </a:p>
          <a:p>
            <a:r>
              <a:t>\node[compromised] at (5.5, 2.0) {}; \node[right, font=\scriptsize] at (5.8, 2.0) {Compromised};</a:t>
            </a:r>
          </a:p>
          <a:p/>
          <a:p>
            <a:r>
              <a:t>% Environment scale</a:t>
            </a:r>
          </a:p>
          <a:p>
            <a:r>
              <a:t>\node[font=\tiny, align=center] at (6, 1.3) {Scale:\\15--200 hosts\\3--8 subnets};</a:t>
            </a:r>
          </a:p>
          <a:p/>
          <a:p/>
          <a:p/>
          <a:p/>
          <a:p/>
          <a:p/>
          <a:p/>
          <a:p>
            <a:r>
              <a:t>  </a:t>
            </a:r>
          </a:p>
          <a:p/>
          <a:p>
            <a:r>
              <a:t>[H]</a:t>
            </a:r>
          </a:p>
          <a:p>
            <a:r>
              <a:t>\centering</a:t>
            </a:r>
          </a:p>
          <a:p>
            <a:r>
              <a:t>[</a:t>
            </a:r>
          </a:p>
          <a:p>
            <a:r>
              <a:t>    node distance=1.5cm,</a:t>
            </a:r>
          </a:p>
          <a:p>
            <a:r>
              <a:t>    % Network Infrastructure</a:t>
            </a:r>
          </a:p>
          <a:p>
            <a:r>
              <a:t>    internet/.style={ellipse, draw=green!60, fill=green!10, minimum width=20mm, minimum height=12mm, thick, align=center, font=\scriptsize},</a:t>
            </a:r>
          </a:p>
          <a:p>
            <a:r>
              <a:t>    firewall/.style={rectangle, draw=red!80, fill=red!20, minimum width=8mm, minimum height=15mm, font=\tiny, thick},</a:t>
            </a:r>
          </a:p>
          <a:p>
            <a:r>
              <a:t>    % Subnets</a:t>
            </a:r>
          </a:p>
          <a:p>
            <a:r>
              <a:t>    subnet/.style={rectangle, draw=gray!50, fill=gray!8, minimum width=25mm, minimum height=20mm, thick, rounded corners=4pt, dashed},</a:t>
            </a:r>
          </a:p>
          <a:p>
            <a:r>
              <a:t>    % Hosts and Decoys</a:t>
            </a:r>
          </a:p>
          <a:p>
            <a:r>
              <a:t>    host/.style={circle, draw=blue!60, fill=blue!15, minimum size=7mm, font=\scriptsize, thick},</a:t>
            </a:r>
          </a:p>
          <a:p>
            <a:r>
              <a:t>    decoy/.style={circle, draw=orange!70, fill=orange!15, minimum size=7mm, font=\scriptsize, thick, dashed},</a:t>
            </a:r>
          </a:p>
          <a:p>
            <a:r>
              <a:t>    compromised/.style={circle, draw=red!70, fill=red!20, minimum size=7mm, font=\scriptsize, thick},</a:t>
            </a:r>
          </a:p>
          <a:p>
            <a:r>
              <a:t>    % Agents</a:t>
            </a:r>
          </a:p>
          <a:p>
            <a:r>
              <a:t>    agent/.style={rectangle, draw=purple!70, fill=purple!10, minimum width=28mm, minimum height=18mm, font=\scriptsize, thick, rounded corners=3pt, align=center},</a:t>
            </a:r>
          </a:p>
          <a:p>
            <a:r>
              <a:t>    % Reward system</a:t>
            </a:r>
          </a:p>
          <a:p>
            <a:r>
              <a:t>    reward/.style={rectangle, draw=orange!70, fill=orange!10, minimum width=45mm, minimum height=15mm, rounded corners=3pt, align=center}</a:t>
            </a:r>
          </a:p>
          <a:p>
            <a:r>
              <a:t>]</a:t>
            </a:r>
          </a:p>
          <a:p/>
          <a:p>
            <a:r>
              <a:t>% Network Infrastructure - Top level</a:t>
            </a:r>
          </a:p>
          <a:p>
            <a:r>
              <a:t>\node[internet] (internet) at (0, 6) {Internet};</a:t>
            </a:r>
          </a:p>
          <a:p>
            <a:r>
              <a:t>\node[firewall] (firewall) at (0, 4.5) {FW};</a:t>
            </a:r>
          </a:p>
          <a:p/>
          <a:p>
            <a:r>
              <a:t>% Subnets - Horizontal layout for width control</a:t>
            </a:r>
          </a:p>
          <a:p>
            <a:r>
              <a:t>\node[subnet] (dmz) at (-3, 2.5) {};</a:t>
            </a:r>
          </a:p>
          <a:p>
            <a:r>
              <a:t>\node[subnet] (internal) at (0, 2.5) {};</a:t>
            </a:r>
          </a:p>
          <a:p>
            <a:r>
              <a:t>\node[subnet] (critical) at (3, 2.5) {};</a:t>
            </a:r>
          </a:p>
          <a:p/>
          <a:p>
            <a:r>
              <a:t>% Subnet labels</a:t>
            </a:r>
          </a:p>
          <a:p>
            <a:r>
              <a:t>\node[font=\small] at (-3, 1.2) {DMZ N₁};</a:t>
            </a:r>
          </a:p>
          <a:p>
            <a:r>
              <a:t>\node[font=\small] at (0, 1.2) {Internal N₂};</a:t>
            </a:r>
          </a:p>
          <a:p>
            <a:r>
              <a:t>\node[font=\small] at (3, 1.2) {Critical N₃};</a:t>
            </a:r>
          </a:p>
          <a:p/>
          <a:p>
            <a:r>
              <a:t>% Hosts within subnets</a:t>
            </a:r>
          </a:p>
          <a:p>
            <a:r>
              <a:t>\node[host] (w1) at (-3.5, 3) {w₁};</a:t>
            </a:r>
          </a:p>
          <a:p>
            <a:r>
              <a:t>\node[host] (w2) at (-2.5, 3) {w₂};</a:t>
            </a:r>
          </a:p>
          <a:p>
            <a:r>
              <a:t>\node[decoy] (d1) at (-3, 2) {d₁};</a:t>
            </a:r>
          </a:p>
          <a:p/>
          <a:p>
            <a:r>
              <a:t>\node[host] (w3) at (-0.5, 3) {w₃};</a:t>
            </a:r>
          </a:p>
          <a:p>
            <a:r>
              <a:t>\node[compromised] (w4) at (0.5, 3) {w₄ ⚠};</a:t>
            </a:r>
          </a:p>
          <a:p>
            <a:r>
              <a:t>\node[host] (w5) at (-0.5, 2) {w₅};</a:t>
            </a:r>
          </a:p>
          <a:p>
            <a:r>
              <a:t>\node[decoy] (d2) at (0.5, 2) {d₂};</a:t>
            </a:r>
          </a:p>
          <a:p/>
          <a:p>
            <a:r>
              <a:t>\node[host] (w6) at (2.5, 3) {w₆};</a:t>
            </a:r>
          </a:p>
          <a:p>
            <a:r>
              <a:t>\node[host] (w7) at (3.5, 3) {w₇};</a:t>
            </a:r>
          </a:p>
          <a:p>
            <a:r>
              <a:t>\node[decoy] (d3) at (3, 2) {d₃};</a:t>
            </a:r>
          </a:p>
          <a:p/>
          <a:p>
            <a:r>
              <a:t>% Network connections</a:t>
            </a:r>
          </a:p>
          <a:p>
            <a:r>
              <a:t>\draw[thick, gray!60] (internet) -- (firewall);</a:t>
            </a:r>
          </a:p>
          <a:p>
            <a:r>
              <a:t>\draw[thick, gray!60] (firewall) -- (-3, 1.8);</a:t>
            </a:r>
          </a:p>
          <a:p>
            <a:r>
              <a:t>\draw[thick, gray!60] (firewall) -- (0, 1.8);</a:t>
            </a:r>
          </a:p>
          <a:p>
            <a:r>
              <a:t>\draw[thick, gray!60] (firewall) -- (3, 1.8);</a:t>
            </a:r>
          </a:p>
          <a:p/>
          <a:p>
            <a:r>
              <a:t>% AI Agents - Positioned below network</a:t>
            </a:r>
          </a:p>
          <a:p>
            <a:r>
              <a:t>\node[agent, fill=red!15] (red) at (-2.5, 0) {\\Policy: π⁽ʳ⁾ (Fixed)\\MITRE ATT\&amp;CK};</a:t>
            </a:r>
          </a:p>
          <a:p>
            <a:r>
              <a:t>\node[agent, fill=blue!15] (blue) at (2.5, 0) {\\Policy: π⁽ᵇ⁾ (PPO)\\Adaptive Defense};</a:t>
            </a:r>
          </a:p>
          <a:p/>
          <a:p/>
          <a:p>
            <a:r>
              <a:t>% Agent actions</a:t>
            </a:r>
          </a:p>
          <a:p>
            <a:r>
              <a:t>\draw[-&gt;, thick, red!70, dashed] (red) to[out=60, in=270] (w4) node[midway, left, font=\tiny] {exploit};</a:t>
            </a:r>
          </a:p>
          <a:p>
            <a:r>
              <a:t>\draw[-&gt;, thick, red!70, dashed] (red) to[out=90, in=270] (w6) node[midway, right, font=\tiny] {target};</a:t>
            </a:r>
          </a:p>
          <a:p>
            <a:r>
              <a:t>\draw[-&gt;, thick, blue!70] (blue) to[out=120, in=270] (d1) node[midway, right, font=\tiny] {deploy};</a:t>
            </a:r>
          </a:p>
          <a:p>
            <a:r>
              <a:t>\draw[-&gt;, thick, blue!70] (blue) to[out=150, in=270] (internal) node[midway, above, font=\tiny] {monitor};</a:t>
            </a:r>
          </a:p>
          <a:p/>
          <a:p>
            <a:r>
              <a:t>% Reward System - Bottom center</a:t>
            </a:r>
          </a:p>
          <a:p>
            <a:r>
              <a:t>\node[reward] (rewards) at (0, -1.8) {\\Blue: +15/-10 (Detect/Miss)\\Red: +10/-5 (Breach/Caught)};</a:t>
            </a:r>
          </a:p>
          <a:p>
            <a:r>
              <a:t>% Learning connections</a:t>
            </a:r>
          </a:p>
          <a:p>
            <a:r>
              <a:t>\draw[&lt;-&gt;, orange!70, thick] (red.south) to[out=270, in=180] (rewards.west);</a:t>
            </a:r>
          </a:p>
          <a:p>
            <a:r>
              <a:t>\draw[&lt;-&gt;, orange!70, thick] (blue.south) to[out=270, in=0] (rewards.east);</a:t>
            </a:r>
          </a:p>
          <a:p/>
          <a:p>
            <a:r>
              <a:t>% Styling</a:t>
            </a:r>
          </a:p>
          <a:p/>
          <a:p/>
          <a:p/>
          <a:p/>
          <a:p/>
          <a:p/>
          <a:p>
            <a:r>
              <a:t>%[H]</a:t>
            </a:r>
          </a:p>
          <a:p>
            <a:r>
              <a:t>%\centering</a:t>
            </a:r>
          </a:p>
          <a:p>
            <a:r>
              <a:t>%\includegraphics[width=0.8\textwidth]{figures/network_environment_mermaid.png}</a:t>
            </a:r>
          </a:p>
          <a:p>
            <a:r>
              <a:t>%</a:t>
            </a:r>
          </a:p>
          <a:p>
            <a:r>
              <a:t>%</a:t>
            </a:r>
          </a:p>
          <a:p>
            <a:r>
              <a:t>%</a:t>
            </a:r>
          </a:p>
          <a:p/>
          <a:p/>
          <a:p>
            <a:r>
              <a:t>[H]</a:t>
            </a:r>
          </a:p>
          <a:p>
            <a:r>
              <a:t>\centering</a:t>
            </a:r>
          </a:p>
          <a:p>
            <a:r>
              <a:t>[</a:t>
            </a:r>
          </a:p>
          <a:p>
            <a:r>
              <a:t>    host/.style={circle, draw=blue!60, fill=blue!15, minimum size=7mm, font=\scriptsize, thick},</a:t>
            </a:r>
          </a:p>
          <a:p>
            <a:r>
              <a:t>    decoy/.style={circle, draw=orange!70, fill=orange!15, minimum size=7mm, font=\scriptsize, thick, dashed},</a:t>
            </a:r>
          </a:p>
          <a:p>
            <a:r>
              <a:t>    compromised/.style={circle, draw=red!70, fill=red!20, minimum size=7mm, font=\scriptsize, thick},</a:t>
            </a:r>
          </a:p>
          <a:p>
            <a:r>
              <a:t>    subnet/.style={rectangle, draw=gray!50, fill=gray!8, minimum width=25mm, minimum height=20mm, thick, rounded corners=4pt, dashed},</a:t>
            </a:r>
          </a:p>
          <a:p>
            <a:r>
              <a:t>    agentRed/.style={rectangle, draw=red!70, fill=red!15, minimum width=22mm, minimum height=12mm, font=\scriptsize, ultra thick, rounded corners=3pt},</a:t>
            </a:r>
          </a:p>
          <a:p>
            <a:r>
              <a:t>    agentBlue/.style={rectangle, draw=blue!70, fill=blue!15, minimum width=22mm, minimum height=12mm, font=\scriptsize, ultra thick, rounded corners=3pt},</a:t>
            </a:r>
          </a:p>
          <a:p>
            <a:r>
              <a:t>    firewall/.style={rectangle, draw=red!80, fill=red!20, minimum width=8mm, minimum height=15mm, font=\tiny, thick},</a:t>
            </a:r>
          </a:p>
          <a:p>
            <a:r>
              <a:t>    internet/.style={ellipse, draw=green!60, fill=green!10, minimum width=20mm, minimum height=12mm, thick, align=center, font=\scriptsize}</a:t>
            </a:r>
          </a:p>
          <a:p>
            <a:r>
              <a:t>]</a:t>
            </a:r>
          </a:p>
          <a:p/>
          <a:p>
            <a:r>
              <a:t>% Internet - top left</a:t>
            </a:r>
          </a:p>
          <a:p>
            <a:r>
              <a:t>\node[internet] (internet) at (-6, 6.5) {Internet};</a:t>
            </a:r>
          </a:p>
          <a:p/>
          <a:p>
            <a:r>
              <a:t>% Firewall</a:t>
            </a:r>
          </a:p>
          <a:p>
            <a:r>
              <a:t>\node[firewall] (firewall) at (-4, 6.5) {FW};</a:t>
            </a:r>
          </a:p>
          <a:p/>
          <a:p>
            <a:r>
              <a:t>% Subnets - better spacing to avoid overlaps</a:t>
            </a:r>
          </a:p>
          <a:p>
            <a:r>
              <a:t>\node[subnet] (subnet1) at (-5, 4) {};</a:t>
            </a:r>
          </a:p>
          <a:p>
            <a:r>
              <a:t>\node[subnet] (subnet2) at (-1, 4) {};</a:t>
            </a:r>
          </a:p>
          <a:p>
            <a:r>
              <a:t>\node[subnet] (subnet3) at (3, 4) {};</a:t>
            </a:r>
          </a:p>
          <a:p/>
          <a:p>
            <a:r>
              <a:t>% Subnet labels - positioned clearly below subnets</a:t>
            </a:r>
          </a:p>
          <a:p>
            <a:r>
              <a:t>\node[font=\small] at (-5, 2.8) {DMZ  [MATH] };</a:t>
            </a:r>
          </a:p>
          <a:p>
            <a:r>
              <a:t>\node[font=\small] at (-1, 2.8) {Internal  [MATH] };</a:t>
            </a:r>
          </a:p>
          <a:p>
            <a:r>
              <a:t>\node[font=\small] at (3, 2.8) {Critical  [MATH] };</a:t>
            </a:r>
          </a:p>
          <a:p/>
          <a:p>
            <a:r>
              <a:t>% Hosts - properly positioned within subnets</a:t>
            </a:r>
          </a:p>
          <a:p>
            <a:r>
              <a:t>\node[host] (h1) at (-5.6, 4.3) { [MATH] };</a:t>
            </a:r>
          </a:p>
          <a:p>
            <a:r>
              <a:t>\node[decoy] (d1) at (-4.4, 4.3) { [MATH] };</a:t>
            </a:r>
          </a:p>
          <a:p/>
          <a:p>
            <a:r>
              <a:t>\node[host] (h2) at (-1.6, 4.3) { [MATH] };</a:t>
            </a:r>
          </a:p>
          <a:p>
            <a:r>
              <a:t>\node[compromised] (h3) at (-0.4, 4.3) { [MATH] };</a:t>
            </a:r>
          </a:p>
          <a:p/>
          <a:p>
            <a:r>
              <a:t>\node[host] (h4) at (2.4, 4.3) { [MATH] };</a:t>
            </a:r>
          </a:p>
          <a:p>
            <a:r>
              <a:t>\node[host] (h5) at (3.6, 4.3) { [MATH] };</a:t>
            </a:r>
          </a:p>
          <a:p/>
          <a:p>
            <a:r>
              <a:t>% Network backbone - adjusted positioning</a:t>
            </a:r>
          </a:p>
          <a:p>
            <a:r>
              <a:t>\draw[thick, gray!60] (internet) -- (firewall);</a:t>
            </a:r>
          </a:p>
          <a:p>
            <a:r>
              <a:t>\draw[thick, gray!60] (firewall) -- (-5, 3.2) -- (-1, 3.2) -- (3, 3.2);</a:t>
            </a:r>
          </a:p>
          <a:p/>
          <a:p>
            <a:r>
              <a:t>% Internal Network label - positioned to avoid subnet overlap</a:t>
            </a:r>
          </a:p>
          <a:p>
            <a:r>
              <a:t>\node[font=\small] at (-1, 2.4) {Internal Network};</a:t>
            </a:r>
          </a:p>
          <a:p/>
          <a:p>
            <a:r>
              <a:t>% Agents - positioned lower to avoid overlap</a:t>
            </a:r>
          </a:p>
          <a:p>
            <a:r>
              <a:t>\node[agentRed, align=center] (red) at (-5, 0.8) {\\  [MATH] };</a:t>
            </a:r>
          </a:p>
          <a:p>
            <a:r>
              <a:t>\node[agentBlue, align=center] (blue) at (3, 0.8) {\\  [MATH] };</a:t>
            </a:r>
          </a:p>
          <a:p/>
          <a:p>
            <a:r>
              <a:t>% Interactions with better label positioning</a:t>
            </a:r>
          </a:p>
          <a:p>
            <a:r>
              <a:t>\draw[-&gt;, thick, blue!70] (blue) to[out=120, in=270] (d1);</a:t>
            </a:r>
          </a:p>
          <a:p>
            <a:r>
              <a:t>\node[font=\tiny, blue!70] at (1.5, 2) {deploy};</a:t>
            </a:r>
          </a:p>
          <a:p/>
          <a:p>
            <a:r>
              <a:t>\draw[-&gt;, thick, red!70, dashed] (red) to[out=60, in=270] (h3);</a:t>
            </a:r>
          </a:p>
          <a:p>
            <a:r>
              <a:t>\node[font=\tiny, red!70] at (-2.5, 2) {attack};</a:t>
            </a:r>
          </a:p>
          <a:p/>
          <a:p>
            <a:r>
              <a:t>% State/Info - positioned to avoid overlap</a:t>
            </a:r>
          </a:p>
          <a:p>
            <a:r>
              <a:t>%\node[font=\tiny] at (-5, 0.1) {MITRE ATT\&amp;CK};</a:t>
            </a:r>
          </a:p>
          <a:p>
            <a:r>
              <a:t>%\node[font=\tiny, align=center] at (3, 0.1) { [MATH] };</a:t>
            </a:r>
          </a:p>
          <a:p/>
          <a:p>
            <a:r>
              <a:t>% Essential state info</a:t>
            </a:r>
          </a:p>
          <a:p>
            <a:r>
              <a:t>\node[font=\tiny] at (-5, 0.01) {MITRE ATT\&amp;CK};</a:t>
            </a:r>
          </a:p>
          <a:p>
            <a:r>
              <a:t>\node[font=\tiny] at (3, 0.01) { [MATH] };</a:t>
            </a:r>
          </a:p>
          <a:p/>
          <a:p>
            <a:r>
              <a:t>% Rewards - positioned lower</a:t>
            </a:r>
          </a:p>
          <a:p>
            <a:r>
              <a:t>\node[rectangle, draw=orange!70, fill=orange!10, minimum width=50mm, minimum height=15mm, rounded corners=3pt] (reward) at (-1, -1.2) {};</a:t>
            </a:r>
          </a:p>
          <a:p>
            <a:r>
              <a:t>\node[font=\small, align=center] at (reward.center) {\\Blue: +15/-10 \quad Red: +10/-5};</a:t>
            </a:r>
          </a:p>
          <a:p/>
          <a:p>
            <a:r>
              <a:t>% Reward arrows</a:t>
            </a:r>
          </a:p>
          <a:p>
            <a:r>
              <a:t>\draw[&lt;-&gt;, orange!70, thick] (red.south) to[out=270, in=180] (reward.west);</a:t>
            </a:r>
          </a:p>
          <a:p>
            <a:r>
              <a:t>\draw[&lt;-&gt;, orange!70, thick] (blue.south) to[out=270, in=0] (reward.east);</a:t>
            </a:r>
          </a:p>
          <a:p/>
          <a:p>
            <a:r>
              <a:t>\node[font=\scriptsize] at (6, 3.5) {};</a:t>
            </a:r>
          </a:p>
          <a:p>
            <a:r>
              <a:t>\node[host] at (5.2, 3.1) {}; \node[right, font=\scriptsize] at (5.5, 3.1) {Clean Host};</a:t>
            </a:r>
          </a:p>
          <a:p>
            <a:r>
              <a:t>\node[decoy] at (5.2, 2.8) {}; \node[right, font=\scriptsize] at (5.5, 2.8) {Decoy Host};</a:t>
            </a:r>
          </a:p>
          <a:p>
            <a:r>
              <a:t>\node[compromised] at (5.2, 2.5) {}; \node[right, font=\scriptsize] at (5.5, 2.5) {Compromised};</a:t>
            </a:r>
          </a:p>
          <a:p>
            <a:r>
              <a:t>%\node[firewall] at (5.2, 2.2) {}; \node[right, font=\scriptsize] at (5.5, 2.2) {Firewall};</a:t>
            </a:r>
          </a:p>
          <a:p/>
          <a:p>
            <a:r>
              <a:t>% Environment scale</a:t>
            </a:r>
          </a:p>
          <a:p>
            <a:r>
              <a:t>\node[font=\tiny, align=center] at (6, 1.5) {Scale:\\15-200 hosts\\3-8 subnets};</a:t>
            </a:r>
          </a:p>
          <a:p/>
          <a:p/>
          <a:p/>
          <a:p/>
          <a:p/>
          <a:p>
            <a:r>
              <a:t>d_b = %2|\mathcal{W}| + |\mathcal{N}||\mathcal{D}| + 2</a:t>
            </a:r>
          </a:p>
        </p:txBody>
      </p:sp>
      <p:pic>
        <p:nvPicPr>
          <p:cNvPr id="4" name="Picture 3" descr="fig_19.png"/>
          <p:cNvPicPr>
            <a:picLocks noChangeAspect="1"/>
          </p:cNvPicPr>
          <p:nvPr/>
        </p:nvPicPr>
        <p:blipFill>
          <a:blip r:embed="rId2"/>
          <a:stretch>
            <a:fillRect/>
          </a:stretch>
        </p:blipFill>
        <p:spPr>
          <a:xfrm>
            <a:off x="914400" y="1828800"/>
            <a:ext cx="1570383" cy="1371600"/>
          </a:xfrm>
          <a:prstGeom prst="rect">
            <a:avLst/>
          </a:prstGeom>
        </p:spPr>
      </p:pic>
      <p:pic>
        <p:nvPicPr>
          <p:cNvPr id="5" name="Picture 4" descr="fig_20.png"/>
          <p:cNvPicPr>
            <a:picLocks noChangeAspect="1"/>
          </p:cNvPicPr>
          <p:nvPr/>
        </p:nvPicPr>
        <p:blipFill>
          <a:blip r:embed="rId3"/>
          <a:stretch>
            <a:fillRect/>
          </a:stretch>
        </p:blipFill>
        <p:spPr>
          <a:xfrm>
            <a:off x="914400" y="1828800"/>
            <a:ext cx="1570383" cy="1371600"/>
          </a:xfrm>
          <a:prstGeom prst="rect">
            <a:avLst/>
          </a:prstGeom>
        </p:spPr>
      </p:pic>
      <p:pic>
        <p:nvPicPr>
          <p:cNvPr id="6" name="Picture 5" descr="fig_21.png"/>
          <p:cNvPicPr>
            <a:picLocks noChangeAspect="1"/>
          </p:cNvPicPr>
          <p:nvPr/>
        </p:nvPicPr>
        <p:blipFill>
          <a:blip r:embed="rId4"/>
          <a:stretch>
            <a:fillRect/>
          </a:stretch>
        </p:blipFill>
        <p:spPr>
          <a:xfrm>
            <a:off x="914400" y="1828800"/>
            <a:ext cx="1590261" cy="1371600"/>
          </a:xfrm>
          <a:prstGeom prst="rect">
            <a:avLst/>
          </a:prstGeom>
        </p:spPr>
      </p:pic>
      <p:pic>
        <p:nvPicPr>
          <p:cNvPr id="7" name="Picture 6" descr="fig_22.png"/>
          <p:cNvPicPr>
            <a:picLocks noChangeAspect="1"/>
          </p:cNvPicPr>
          <p:nvPr/>
        </p:nvPicPr>
        <p:blipFill>
          <a:blip r:embed="rId5"/>
          <a:stretch>
            <a:fillRect/>
          </a:stretch>
        </p:blipFill>
        <p:spPr>
          <a:xfrm>
            <a:off x="914400" y="1828800"/>
            <a:ext cx="1649896" cy="1371600"/>
          </a:xfrm>
          <a:prstGeom prst="rect">
            <a:avLst/>
          </a:prstGeom>
        </p:spPr>
      </p:pic>
      <p:pic>
        <p:nvPicPr>
          <p:cNvPr id="8" name="Picture 7" descr="fig_23.png"/>
          <p:cNvPicPr>
            <a:picLocks noChangeAspect="1"/>
          </p:cNvPicPr>
          <p:nvPr/>
        </p:nvPicPr>
        <p:blipFill>
          <a:blip r:embed="rId6"/>
          <a:stretch>
            <a:fillRect/>
          </a:stretch>
        </p:blipFill>
        <p:spPr>
          <a:xfrm>
            <a:off x="914400" y="1828800"/>
            <a:ext cx="1430383" cy="1371600"/>
          </a:xfrm>
          <a:prstGeom prst="rect">
            <a:avLst/>
          </a:prstGeom>
        </p:spPr>
      </p:pic>
      <p:pic>
        <p:nvPicPr>
          <p:cNvPr id="9" name="Picture 8" descr="fig_24.png"/>
          <p:cNvPicPr>
            <a:picLocks noChangeAspect="1"/>
          </p:cNvPicPr>
          <p:nvPr/>
        </p:nvPicPr>
        <p:blipFill>
          <a:blip r:embed="rId7"/>
          <a:stretch>
            <a:fillRect/>
          </a:stretch>
        </p:blipFill>
        <p:spPr>
          <a:xfrm>
            <a:off x="914400" y="1828800"/>
            <a:ext cx="1649896" cy="1371600"/>
          </a:xfrm>
          <a:prstGeom prst="rect">
            <a:avLst/>
          </a:prstGeom>
        </p:spPr>
      </p:pic>
      <p:pic>
        <p:nvPicPr>
          <p:cNvPr id="10" name="Picture 9" descr="fig_25.png"/>
          <p:cNvPicPr>
            <a:picLocks noChangeAspect="1"/>
          </p:cNvPicPr>
          <p:nvPr/>
        </p:nvPicPr>
        <p:blipFill>
          <a:blip r:embed="rId8"/>
          <a:stretch>
            <a:fillRect/>
          </a:stretch>
        </p:blipFill>
        <p:spPr>
          <a:xfrm>
            <a:off x="914400" y="1828800"/>
            <a:ext cx="1669774" cy="1371600"/>
          </a:xfrm>
          <a:prstGeom prst="rect">
            <a:avLst/>
          </a:prstGeom>
        </p:spPr>
      </p:pic>
      <p:pic>
        <p:nvPicPr>
          <p:cNvPr id="11" name="Picture 10" descr="fig_26.png"/>
          <p:cNvPicPr>
            <a:picLocks noChangeAspect="1"/>
          </p:cNvPicPr>
          <p:nvPr/>
        </p:nvPicPr>
        <p:blipFill>
          <a:blip r:embed="rId9"/>
          <a:stretch>
            <a:fillRect/>
          </a:stretch>
        </p:blipFill>
        <p:spPr>
          <a:xfrm>
            <a:off x="914400" y="1828800"/>
            <a:ext cx="1689652" cy="1371600"/>
          </a:xfrm>
          <a:prstGeom prst="rect">
            <a:avLst/>
          </a:prstGeom>
        </p:spPr>
      </p:pic>
      <p:pic>
        <p:nvPicPr>
          <p:cNvPr id="12" name="Picture 11" descr="fig_27.png"/>
          <p:cNvPicPr>
            <a:picLocks noChangeAspect="1"/>
          </p:cNvPicPr>
          <p:nvPr/>
        </p:nvPicPr>
        <p:blipFill>
          <a:blip r:embed="rId10"/>
          <a:stretch>
            <a:fillRect/>
          </a:stretch>
        </p:blipFill>
        <p:spPr>
          <a:xfrm>
            <a:off x="914400" y="1828800"/>
            <a:ext cx="1669774" cy="1371600"/>
          </a:xfrm>
          <a:prstGeom prst="rect">
            <a:avLst/>
          </a:prstGeom>
        </p:spPr>
      </p:pic>
      <p:pic>
        <p:nvPicPr>
          <p:cNvPr id="13" name="Picture 12" descr="fig_28.png"/>
          <p:cNvPicPr>
            <a:picLocks noChangeAspect="1"/>
          </p:cNvPicPr>
          <p:nvPr/>
        </p:nvPicPr>
        <p:blipFill>
          <a:blip r:embed="rId11"/>
          <a:stretch>
            <a:fillRect/>
          </a:stretch>
        </p:blipFill>
        <p:spPr>
          <a:xfrm>
            <a:off x="914400" y="1828800"/>
            <a:ext cx="1881051" cy="1371600"/>
          </a:xfrm>
          <a:prstGeom prst="rect">
            <a:avLst/>
          </a:prstGeom>
        </p:spPr>
      </p:pic>
      <p:pic>
        <p:nvPicPr>
          <p:cNvPr id="14" name="Picture 13" descr="fig_11.png"/>
          <p:cNvPicPr>
            <a:picLocks noChangeAspect="1"/>
          </p:cNvPicPr>
          <p:nvPr/>
        </p:nvPicPr>
        <p:blipFill>
          <a:blip r:embed="rId12"/>
          <a:stretch>
            <a:fillRect/>
          </a:stretch>
        </p:blipFill>
        <p:spPr>
          <a:xfrm>
            <a:off x="914400" y="1828800"/>
            <a:ext cx="2076994" cy="1371600"/>
          </a:xfrm>
          <a:prstGeom prst="rect">
            <a:avLst/>
          </a:prstGeom>
        </p:spPr>
      </p:pic>
      <p:pic>
        <p:nvPicPr>
          <p:cNvPr id="15" name="Picture 14" descr="fig_30.png"/>
          <p:cNvPicPr>
            <a:picLocks noChangeAspect="1"/>
          </p:cNvPicPr>
          <p:nvPr/>
        </p:nvPicPr>
        <p:blipFill>
          <a:blip r:embed="rId13"/>
          <a:stretch>
            <a:fillRect/>
          </a:stretch>
        </p:blipFill>
        <p:spPr>
          <a:xfrm>
            <a:off x="914400" y="1828800"/>
            <a:ext cx="7040880" cy="1371600"/>
          </a:xfrm>
          <a:prstGeom prst="rect">
            <a:avLst/>
          </a:prstGeom>
        </p:spPr>
      </p:pic>
      <p:pic>
        <p:nvPicPr>
          <p:cNvPr id="16" name="Picture 15" descr="fig_31.png"/>
          <p:cNvPicPr>
            <a:picLocks noChangeAspect="1"/>
          </p:cNvPicPr>
          <p:nvPr/>
        </p:nvPicPr>
        <p:blipFill>
          <a:blip r:embed="rId14"/>
          <a:stretch>
            <a:fillRect/>
          </a:stretch>
        </p:blipFill>
        <p:spPr>
          <a:xfrm>
            <a:off x="914400" y="1828800"/>
            <a:ext cx="1510748" cy="1371600"/>
          </a:xfrm>
          <a:prstGeom prst="rect">
            <a:avLst/>
          </a:prstGeom>
        </p:spPr>
      </p:pic>
      <p:pic>
        <p:nvPicPr>
          <p:cNvPr id="17" name="Picture 16" descr="fig_32.png"/>
          <p:cNvPicPr>
            <a:picLocks noChangeAspect="1"/>
          </p:cNvPicPr>
          <p:nvPr/>
        </p:nvPicPr>
        <p:blipFill>
          <a:blip r:embed="rId15"/>
          <a:stretch>
            <a:fillRect/>
          </a:stretch>
        </p:blipFill>
        <p:spPr>
          <a:xfrm>
            <a:off x="914400" y="1828800"/>
            <a:ext cx="1411357" cy="1371600"/>
          </a:xfrm>
          <a:prstGeom prst="rect">
            <a:avLst/>
          </a:prstGeom>
        </p:spPr>
      </p:pic>
      <p:pic>
        <p:nvPicPr>
          <p:cNvPr id="18" name="Picture 17" descr="fig_33.png"/>
          <p:cNvPicPr>
            <a:picLocks noChangeAspect="1"/>
          </p:cNvPicPr>
          <p:nvPr/>
        </p:nvPicPr>
        <p:blipFill>
          <a:blip r:embed="rId16"/>
          <a:stretch>
            <a:fillRect/>
          </a:stretch>
        </p:blipFill>
        <p:spPr>
          <a:xfrm>
            <a:off x="914400" y="1828800"/>
            <a:ext cx="2564296" cy="1371600"/>
          </a:xfrm>
          <a:prstGeom prst="rect">
            <a:avLst/>
          </a:prstGeom>
        </p:spPr>
      </p:pic>
      <p:pic>
        <p:nvPicPr>
          <p:cNvPr id="19" name="Picture 18" descr="fig_19.png"/>
          <p:cNvPicPr>
            <a:picLocks noChangeAspect="1"/>
          </p:cNvPicPr>
          <p:nvPr/>
        </p:nvPicPr>
        <p:blipFill>
          <a:blip r:embed="rId2"/>
          <a:stretch>
            <a:fillRect/>
          </a:stretch>
        </p:blipFill>
        <p:spPr>
          <a:xfrm>
            <a:off x="914400" y="1828800"/>
            <a:ext cx="1570383" cy="1371600"/>
          </a:xfrm>
          <a:prstGeom prst="rect">
            <a:avLst/>
          </a:prstGeom>
        </p:spPr>
      </p:pic>
      <p:pic>
        <p:nvPicPr>
          <p:cNvPr id="20" name="Picture 19" descr="fig_20.png"/>
          <p:cNvPicPr>
            <a:picLocks noChangeAspect="1"/>
          </p:cNvPicPr>
          <p:nvPr/>
        </p:nvPicPr>
        <p:blipFill>
          <a:blip r:embed="rId3"/>
          <a:stretch>
            <a:fillRect/>
          </a:stretch>
        </p:blipFill>
        <p:spPr>
          <a:xfrm>
            <a:off x="914400" y="1828800"/>
            <a:ext cx="1570383" cy="1371600"/>
          </a:xfrm>
          <a:prstGeom prst="rect">
            <a:avLst/>
          </a:prstGeom>
        </p:spPr>
      </p:pic>
      <p:pic>
        <p:nvPicPr>
          <p:cNvPr id="21" name="Picture 20" descr="fig_21.png"/>
          <p:cNvPicPr>
            <a:picLocks noChangeAspect="1"/>
          </p:cNvPicPr>
          <p:nvPr/>
        </p:nvPicPr>
        <p:blipFill>
          <a:blip r:embed="rId4"/>
          <a:stretch>
            <a:fillRect/>
          </a:stretch>
        </p:blipFill>
        <p:spPr>
          <a:xfrm>
            <a:off x="914400" y="1828800"/>
            <a:ext cx="1590261" cy="1371600"/>
          </a:xfrm>
          <a:prstGeom prst="rect">
            <a:avLst/>
          </a:prstGeom>
        </p:spPr>
      </p:pic>
      <p:pic>
        <p:nvPicPr>
          <p:cNvPr id="22" name="Picture 21" descr="fig_22.png"/>
          <p:cNvPicPr>
            <a:picLocks noChangeAspect="1"/>
          </p:cNvPicPr>
          <p:nvPr/>
        </p:nvPicPr>
        <p:blipFill>
          <a:blip r:embed="rId5"/>
          <a:stretch>
            <a:fillRect/>
          </a:stretch>
        </p:blipFill>
        <p:spPr>
          <a:xfrm>
            <a:off x="914400" y="1828800"/>
            <a:ext cx="1649896" cy="1371600"/>
          </a:xfrm>
          <a:prstGeom prst="rect">
            <a:avLst/>
          </a:prstGeom>
        </p:spPr>
      </p:pic>
      <p:pic>
        <p:nvPicPr>
          <p:cNvPr id="23" name="Picture 22" descr="fig_23.png"/>
          <p:cNvPicPr>
            <a:picLocks noChangeAspect="1"/>
          </p:cNvPicPr>
          <p:nvPr/>
        </p:nvPicPr>
        <p:blipFill>
          <a:blip r:embed="rId6"/>
          <a:stretch>
            <a:fillRect/>
          </a:stretch>
        </p:blipFill>
        <p:spPr>
          <a:xfrm>
            <a:off x="914400" y="1828800"/>
            <a:ext cx="1430383" cy="1371600"/>
          </a:xfrm>
          <a:prstGeom prst="rect">
            <a:avLst/>
          </a:prstGeom>
        </p:spPr>
      </p:pic>
      <p:pic>
        <p:nvPicPr>
          <p:cNvPr id="24" name="Picture 23" descr="fig_24.png"/>
          <p:cNvPicPr>
            <a:picLocks noChangeAspect="1"/>
          </p:cNvPicPr>
          <p:nvPr/>
        </p:nvPicPr>
        <p:blipFill>
          <a:blip r:embed="rId7"/>
          <a:stretch>
            <a:fillRect/>
          </a:stretch>
        </p:blipFill>
        <p:spPr>
          <a:xfrm>
            <a:off x="914400" y="1828800"/>
            <a:ext cx="1649896" cy="1371600"/>
          </a:xfrm>
          <a:prstGeom prst="rect">
            <a:avLst/>
          </a:prstGeom>
        </p:spPr>
      </p:pic>
      <p:pic>
        <p:nvPicPr>
          <p:cNvPr id="25" name="Picture 24" descr="fig_25.png"/>
          <p:cNvPicPr>
            <a:picLocks noChangeAspect="1"/>
          </p:cNvPicPr>
          <p:nvPr/>
        </p:nvPicPr>
        <p:blipFill>
          <a:blip r:embed="rId8"/>
          <a:stretch>
            <a:fillRect/>
          </a:stretch>
        </p:blipFill>
        <p:spPr>
          <a:xfrm>
            <a:off x="914400" y="1828800"/>
            <a:ext cx="1669774" cy="1371600"/>
          </a:xfrm>
          <a:prstGeom prst="rect">
            <a:avLst/>
          </a:prstGeom>
        </p:spPr>
      </p:pic>
      <p:pic>
        <p:nvPicPr>
          <p:cNvPr id="26" name="Picture 25" descr="fig_26.png"/>
          <p:cNvPicPr>
            <a:picLocks noChangeAspect="1"/>
          </p:cNvPicPr>
          <p:nvPr/>
        </p:nvPicPr>
        <p:blipFill>
          <a:blip r:embed="rId9"/>
          <a:stretch>
            <a:fillRect/>
          </a:stretch>
        </p:blipFill>
        <p:spPr>
          <a:xfrm>
            <a:off x="914400" y="1828800"/>
            <a:ext cx="1689652" cy="1371600"/>
          </a:xfrm>
          <a:prstGeom prst="rect">
            <a:avLst/>
          </a:prstGeom>
        </p:spPr>
      </p:pic>
      <p:pic>
        <p:nvPicPr>
          <p:cNvPr id="27" name="Picture 26" descr="fig_27.png"/>
          <p:cNvPicPr>
            <a:picLocks noChangeAspect="1"/>
          </p:cNvPicPr>
          <p:nvPr/>
        </p:nvPicPr>
        <p:blipFill>
          <a:blip r:embed="rId10"/>
          <a:stretch>
            <a:fillRect/>
          </a:stretch>
        </p:blipFill>
        <p:spPr>
          <a:xfrm>
            <a:off x="914400" y="1828800"/>
            <a:ext cx="1669774" cy="1371600"/>
          </a:xfrm>
          <a:prstGeom prst="rect">
            <a:avLst/>
          </a:prstGeom>
        </p:spPr>
      </p:pic>
      <p:pic>
        <p:nvPicPr>
          <p:cNvPr id="28" name="Picture 27" descr="fig_28.png"/>
          <p:cNvPicPr>
            <a:picLocks noChangeAspect="1"/>
          </p:cNvPicPr>
          <p:nvPr/>
        </p:nvPicPr>
        <p:blipFill>
          <a:blip r:embed="rId11"/>
          <a:stretch>
            <a:fillRect/>
          </a:stretch>
        </p:blipFill>
        <p:spPr>
          <a:xfrm>
            <a:off x="914400" y="1828800"/>
            <a:ext cx="1881051" cy="1371600"/>
          </a:xfrm>
          <a:prstGeom prst="rect">
            <a:avLst/>
          </a:prstGeom>
        </p:spPr>
      </p:pic>
      <p:pic>
        <p:nvPicPr>
          <p:cNvPr id="29" name="Picture 28" descr="fig_11.png"/>
          <p:cNvPicPr>
            <a:picLocks noChangeAspect="1"/>
          </p:cNvPicPr>
          <p:nvPr/>
        </p:nvPicPr>
        <p:blipFill>
          <a:blip r:embed="rId12"/>
          <a:stretch>
            <a:fillRect/>
          </a:stretch>
        </p:blipFill>
        <p:spPr>
          <a:xfrm>
            <a:off x="914400" y="1828800"/>
            <a:ext cx="2076994" cy="1371600"/>
          </a:xfrm>
          <a:prstGeom prst="rect">
            <a:avLst/>
          </a:prstGeom>
        </p:spPr>
      </p:pic>
      <p:pic>
        <p:nvPicPr>
          <p:cNvPr id="30" name="Picture 29" descr="fig_30.png"/>
          <p:cNvPicPr>
            <a:picLocks noChangeAspect="1"/>
          </p:cNvPicPr>
          <p:nvPr/>
        </p:nvPicPr>
        <p:blipFill>
          <a:blip r:embed="rId13"/>
          <a:stretch>
            <a:fillRect/>
          </a:stretch>
        </p:blipFill>
        <p:spPr>
          <a:xfrm>
            <a:off x="914400" y="1828800"/>
            <a:ext cx="7040880" cy="1371600"/>
          </a:xfrm>
          <a:prstGeom prst="rect">
            <a:avLst/>
          </a:prstGeom>
        </p:spPr>
      </p:pic>
      <p:pic>
        <p:nvPicPr>
          <p:cNvPr id="31" name="Picture 30" descr="fig_19.png"/>
          <p:cNvPicPr>
            <a:picLocks noChangeAspect="1"/>
          </p:cNvPicPr>
          <p:nvPr/>
        </p:nvPicPr>
        <p:blipFill>
          <a:blip r:embed="rId2"/>
          <a:stretch>
            <a:fillRect/>
          </a:stretch>
        </p:blipFill>
        <p:spPr>
          <a:xfrm>
            <a:off x="914400" y="1828800"/>
            <a:ext cx="1570383" cy="1371600"/>
          </a:xfrm>
          <a:prstGeom prst="rect">
            <a:avLst/>
          </a:prstGeom>
        </p:spPr>
      </p:pic>
      <p:pic>
        <p:nvPicPr>
          <p:cNvPr id="32" name="Picture 31" descr="fig_20.png"/>
          <p:cNvPicPr>
            <a:picLocks noChangeAspect="1"/>
          </p:cNvPicPr>
          <p:nvPr/>
        </p:nvPicPr>
        <p:blipFill>
          <a:blip r:embed="rId3"/>
          <a:stretch>
            <a:fillRect/>
          </a:stretch>
        </p:blipFill>
        <p:spPr>
          <a:xfrm>
            <a:off x="914400" y="1828800"/>
            <a:ext cx="1570383" cy="1371600"/>
          </a:xfrm>
          <a:prstGeom prst="rect">
            <a:avLst/>
          </a:prstGeom>
        </p:spPr>
      </p:pic>
      <p:pic>
        <p:nvPicPr>
          <p:cNvPr id="33" name="Picture 32" descr="fig_21.png"/>
          <p:cNvPicPr>
            <a:picLocks noChangeAspect="1"/>
          </p:cNvPicPr>
          <p:nvPr/>
        </p:nvPicPr>
        <p:blipFill>
          <a:blip r:embed="rId4"/>
          <a:stretch>
            <a:fillRect/>
          </a:stretch>
        </p:blipFill>
        <p:spPr>
          <a:xfrm>
            <a:off x="914400" y="1828800"/>
            <a:ext cx="1590261" cy="1371600"/>
          </a:xfrm>
          <a:prstGeom prst="rect">
            <a:avLst/>
          </a:prstGeom>
        </p:spPr>
      </p:pic>
      <p:pic>
        <p:nvPicPr>
          <p:cNvPr id="34" name="Picture 33" descr="fig_22.png"/>
          <p:cNvPicPr>
            <a:picLocks noChangeAspect="1"/>
          </p:cNvPicPr>
          <p:nvPr/>
        </p:nvPicPr>
        <p:blipFill>
          <a:blip r:embed="rId5"/>
          <a:stretch>
            <a:fillRect/>
          </a:stretch>
        </p:blipFill>
        <p:spPr>
          <a:xfrm>
            <a:off x="914400" y="1828800"/>
            <a:ext cx="1649896" cy="1371600"/>
          </a:xfrm>
          <a:prstGeom prst="rect">
            <a:avLst/>
          </a:prstGeom>
        </p:spPr>
      </p:pic>
      <p:pic>
        <p:nvPicPr>
          <p:cNvPr id="35" name="Picture 34" descr="fig_23.png"/>
          <p:cNvPicPr>
            <a:picLocks noChangeAspect="1"/>
          </p:cNvPicPr>
          <p:nvPr/>
        </p:nvPicPr>
        <p:blipFill>
          <a:blip r:embed="rId6"/>
          <a:stretch>
            <a:fillRect/>
          </a:stretch>
        </p:blipFill>
        <p:spPr>
          <a:xfrm>
            <a:off x="914400" y="1828800"/>
            <a:ext cx="1430383" cy="1371600"/>
          </a:xfrm>
          <a:prstGeom prst="rect">
            <a:avLst/>
          </a:prstGeom>
        </p:spPr>
      </p:pic>
      <p:pic>
        <p:nvPicPr>
          <p:cNvPr id="36" name="Picture 35" descr="fig_24.png"/>
          <p:cNvPicPr>
            <a:picLocks noChangeAspect="1"/>
          </p:cNvPicPr>
          <p:nvPr/>
        </p:nvPicPr>
        <p:blipFill>
          <a:blip r:embed="rId7"/>
          <a:stretch>
            <a:fillRect/>
          </a:stretch>
        </p:blipFill>
        <p:spPr>
          <a:xfrm>
            <a:off x="914400" y="1828800"/>
            <a:ext cx="1649896" cy="1371600"/>
          </a:xfrm>
          <a:prstGeom prst="rect">
            <a:avLst/>
          </a:prstGeom>
        </p:spPr>
      </p:pic>
      <p:pic>
        <p:nvPicPr>
          <p:cNvPr id="37" name="Picture 36" descr="fig_25.png"/>
          <p:cNvPicPr>
            <a:picLocks noChangeAspect="1"/>
          </p:cNvPicPr>
          <p:nvPr/>
        </p:nvPicPr>
        <p:blipFill>
          <a:blip r:embed="rId8"/>
          <a:stretch>
            <a:fillRect/>
          </a:stretch>
        </p:blipFill>
        <p:spPr>
          <a:xfrm>
            <a:off x="914400" y="1828800"/>
            <a:ext cx="1669774" cy="1371600"/>
          </a:xfrm>
          <a:prstGeom prst="rect">
            <a:avLst/>
          </a:prstGeom>
        </p:spPr>
      </p:pic>
      <p:pic>
        <p:nvPicPr>
          <p:cNvPr id="38" name="Picture 37" descr="fig_26.png"/>
          <p:cNvPicPr>
            <a:picLocks noChangeAspect="1"/>
          </p:cNvPicPr>
          <p:nvPr/>
        </p:nvPicPr>
        <p:blipFill>
          <a:blip r:embed="rId9"/>
          <a:stretch>
            <a:fillRect/>
          </a:stretch>
        </p:blipFill>
        <p:spPr>
          <a:xfrm>
            <a:off x="914400" y="1828800"/>
            <a:ext cx="1689652" cy="1371600"/>
          </a:xfrm>
          <a:prstGeom prst="rect">
            <a:avLst/>
          </a:prstGeom>
        </p:spPr>
      </p:pic>
      <p:pic>
        <p:nvPicPr>
          <p:cNvPr id="39" name="Picture 38" descr="fig_27.png"/>
          <p:cNvPicPr>
            <a:picLocks noChangeAspect="1"/>
          </p:cNvPicPr>
          <p:nvPr/>
        </p:nvPicPr>
        <p:blipFill>
          <a:blip r:embed="rId10"/>
          <a:stretch>
            <a:fillRect/>
          </a:stretch>
        </p:blipFill>
        <p:spPr>
          <a:xfrm>
            <a:off x="914400" y="1828800"/>
            <a:ext cx="1669774" cy="1371600"/>
          </a:xfrm>
          <a:prstGeom prst="rect">
            <a:avLst/>
          </a:prstGeom>
        </p:spPr>
      </p:pic>
      <p:pic>
        <p:nvPicPr>
          <p:cNvPr id="40" name="Picture 39" descr="fig_28.png"/>
          <p:cNvPicPr>
            <a:picLocks noChangeAspect="1"/>
          </p:cNvPicPr>
          <p:nvPr/>
        </p:nvPicPr>
        <p:blipFill>
          <a:blip r:embed="rId11"/>
          <a:stretch>
            <a:fillRect/>
          </a:stretch>
        </p:blipFill>
        <p:spPr>
          <a:xfrm>
            <a:off x="914400" y="1828800"/>
            <a:ext cx="1881051" cy="1371600"/>
          </a:xfrm>
          <a:prstGeom prst="rect">
            <a:avLst/>
          </a:prstGeom>
        </p:spPr>
      </p:pic>
      <p:pic>
        <p:nvPicPr>
          <p:cNvPr id="41" name="Picture 40" descr="fig_11.png"/>
          <p:cNvPicPr>
            <a:picLocks noChangeAspect="1"/>
          </p:cNvPicPr>
          <p:nvPr/>
        </p:nvPicPr>
        <p:blipFill>
          <a:blip r:embed="rId12"/>
          <a:stretch>
            <a:fillRect/>
          </a:stretch>
        </p:blipFill>
        <p:spPr>
          <a:xfrm>
            <a:off x="914400" y="1828800"/>
            <a:ext cx="2076994" cy="1371600"/>
          </a:xfrm>
          <a:prstGeom prst="rect">
            <a:avLst/>
          </a:prstGeom>
        </p:spPr>
      </p:pic>
      <p:pic>
        <p:nvPicPr>
          <p:cNvPr id="42" name="Picture 41" descr="fig_30.png"/>
          <p:cNvPicPr>
            <a:picLocks noChangeAspect="1"/>
          </p:cNvPicPr>
          <p:nvPr/>
        </p:nvPicPr>
        <p:blipFill>
          <a:blip r:embed="rId13"/>
          <a:stretch>
            <a:fillRect/>
          </a:stretch>
        </p:blipFill>
        <p:spPr>
          <a:xfrm>
            <a:off x="914400" y="1828800"/>
            <a:ext cx="7040880" cy="13716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Mathematical Foundation}</a:t>
            </a:r>
          </a:p>
          <a:p>
            <a:r>
              <a:t>The network environment is represented as a directed graph  [MATH] :</a:t>
            </a:r>
          </a:p>
          <a:p/>
          <a:p/>
          <a:p>
            <a:r>
              <a:t>G &amp;= (V, E)  G = () \\</a:t>
            </a:r>
          </a:p>
          <a:p>
            <a:r>
              <a:t>V &amp;=  \cup  \cup  \\</a:t>
            </a:r>
          </a:p>
          <a:p>
            <a:r>
              <a:t>E &amp;\subseteq V \times V</a:t>
            </a:r>
          </a:p>
          <a:p/>
          <a:p/>
          <a:p>
            <a:r>
              <a:t>where  [MATH]  represents hosts (computers/devices),  [MATH]  represents subnets,  [MATH]  represents routers, and  [MATH]  represents directed network connections.</a:t>
            </a:r>
          </a:p>
          <a:p/>
          <a:p>
            <a:r>
              <a:t>Each host  [MATH]  is characterized by a comprehensive state vector:</a:t>
            </a:r>
          </a:p>
          <a:p>
            <a:r>
              <a:t> [MATH] </a:t>
            </a:r>
          </a:p>
          <a:p/>
          <a:p>
            <a:r>
              <a:t>where  [MATH]  is the IP address,  [MATH]  is the operating system,  [MATH]  are running services,  [MATH]  are vulnerabilities,  [MATH]  indicates compromise status, and  [MATH]  indicates whether the host is a honeypot.</a:t>
            </a:r>
          </a:p>
        </p:txBody>
      </p:sp>
      <p:pic>
        <p:nvPicPr>
          <p:cNvPr id="4" name="Picture 3" descr="fig_58.png"/>
          <p:cNvPicPr>
            <a:picLocks noChangeAspect="1"/>
          </p:cNvPicPr>
          <p:nvPr/>
        </p:nvPicPr>
        <p:blipFill>
          <a:blip r:embed="rId2"/>
          <a:stretch>
            <a:fillRect/>
          </a:stretch>
        </p:blipFill>
        <p:spPr>
          <a:xfrm>
            <a:off x="914400" y="1828800"/>
            <a:ext cx="5526157" cy="1371600"/>
          </a:xfrm>
          <a:prstGeom prst="rect">
            <a:avLst/>
          </a:prstGeom>
        </p:spPr>
      </p:pic>
      <p:pic>
        <p:nvPicPr>
          <p:cNvPr id="5" name="Picture 4" descr="fig_59.png"/>
          <p:cNvPicPr>
            <a:picLocks noChangeAspect="1"/>
          </p:cNvPicPr>
          <p:nvPr/>
        </p:nvPicPr>
        <p:blipFill>
          <a:blip r:embed="rId3"/>
          <a:stretch>
            <a:fillRect/>
          </a:stretch>
        </p:blipFill>
        <p:spPr>
          <a:xfrm>
            <a:off x="914400" y="1828800"/>
            <a:ext cx="1431235" cy="1371600"/>
          </a:xfrm>
          <a:prstGeom prst="rect">
            <a:avLst/>
          </a:prstGeom>
        </p:spPr>
      </p:pic>
      <p:pic>
        <p:nvPicPr>
          <p:cNvPr id="6" name="Picture 5" descr="fig_60.png"/>
          <p:cNvPicPr>
            <a:picLocks noChangeAspect="1"/>
          </p:cNvPicPr>
          <p:nvPr/>
        </p:nvPicPr>
        <p:blipFill>
          <a:blip r:embed="rId4"/>
          <a:stretch>
            <a:fillRect/>
          </a:stretch>
        </p:blipFill>
        <p:spPr>
          <a:xfrm>
            <a:off x="914400" y="1828800"/>
            <a:ext cx="1510748" cy="1371600"/>
          </a:xfrm>
          <a:prstGeom prst="rect">
            <a:avLst/>
          </a:prstGeom>
        </p:spPr>
      </p:pic>
      <p:pic>
        <p:nvPicPr>
          <p:cNvPr id="7" name="Picture 6" descr="fig_61.png"/>
          <p:cNvPicPr>
            <a:picLocks noChangeAspect="1"/>
          </p:cNvPicPr>
          <p:nvPr/>
        </p:nvPicPr>
        <p:blipFill>
          <a:blip r:embed="rId5"/>
          <a:stretch>
            <a:fillRect/>
          </a:stretch>
        </p:blipFill>
        <p:spPr>
          <a:xfrm>
            <a:off x="914400" y="1828800"/>
            <a:ext cx="934278" cy="1371600"/>
          </a:xfrm>
          <a:prstGeom prst="rect">
            <a:avLst/>
          </a:prstGeom>
        </p:spPr>
      </p:pic>
      <p:pic>
        <p:nvPicPr>
          <p:cNvPr id="8" name="Picture 7" descr="fig_62.png"/>
          <p:cNvPicPr>
            <a:picLocks noChangeAspect="1"/>
          </p:cNvPicPr>
          <p:nvPr/>
        </p:nvPicPr>
        <p:blipFill>
          <a:blip r:embed="rId6"/>
          <a:stretch>
            <a:fillRect/>
          </a:stretch>
        </p:blipFill>
        <p:spPr>
          <a:xfrm>
            <a:off x="914400" y="1828800"/>
            <a:ext cx="993913" cy="1371600"/>
          </a:xfrm>
          <a:prstGeom prst="rect">
            <a:avLst/>
          </a:prstGeom>
        </p:spPr>
      </p:pic>
      <p:pic>
        <p:nvPicPr>
          <p:cNvPr id="9" name="Picture 8" descr="fig_63.png"/>
          <p:cNvPicPr>
            <a:picLocks noChangeAspect="1"/>
          </p:cNvPicPr>
          <p:nvPr/>
        </p:nvPicPr>
        <p:blipFill>
          <a:blip r:embed="rId7"/>
          <a:stretch>
            <a:fillRect/>
          </a:stretch>
        </p:blipFill>
        <p:spPr>
          <a:xfrm>
            <a:off x="914400" y="1828800"/>
            <a:ext cx="4094922" cy="1371600"/>
          </a:xfrm>
          <a:prstGeom prst="rect">
            <a:avLst/>
          </a:prstGeom>
        </p:spPr>
      </p:pic>
      <p:pic>
        <p:nvPicPr>
          <p:cNvPr id="10" name="Picture 9" descr="fig_64.png"/>
          <p:cNvPicPr>
            <a:picLocks noChangeAspect="1"/>
          </p:cNvPicPr>
          <p:nvPr/>
        </p:nvPicPr>
        <p:blipFill>
          <a:blip r:embed="rId8"/>
          <a:stretch>
            <a:fillRect/>
          </a:stretch>
        </p:blipFill>
        <p:spPr>
          <a:xfrm>
            <a:off x="914400" y="1828800"/>
            <a:ext cx="29407104" cy="1371600"/>
          </a:xfrm>
          <a:prstGeom prst="rect">
            <a:avLst/>
          </a:prstGeom>
        </p:spPr>
      </p:pic>
      <p:pic>
        <p:nvPicPr>
          <p:cNvPr id="11" name="Picture 10" descr="fig_65.png"/>
          <p:cNvPicPr>
            <a:picLocks noChangeAspect="1"/>
          </p:cNvPicPr>
          <p:nvPr/>
        </p:nvPicPr>
        <p:blipFill>
          <a:blip r:embed="rId9"/>
          <a:stretch>
            <a:fillRect/>
          </a:stretch>
        </p:blipFill>
        <p:spPr>
          <a:xfrm>
            <a:off x="914400" y="1828800"/>
            <a:ext cx="1550504" cy="1371600"/>
          </a:xfrm>
          <a:prstGeom prst="rect">
            <a:avLst/>
          </a:prstGeom>
        </p:spPr>
      </p:pic>
      <p:pic>
        <p:nvPicPr>
          <p:cNvPr id="12" name="Picture 11" descr="fig_66.png"/>
          <p:cNvPicPr>
            <a:picLocks noChangeAspect="1"/>
          </p:cNvPicPr>
          <p:nvPr/>
        </p:nvPicPr>
        <p:blipFill>
          <a:blip r:embed="rId10"/>
          <a:stretch>
            <a:fillRect/>
          </a:stretch>
        </p:blipFill>
        <p:spPr>
          <a:xfrm>
            <a:off x="914400" y="1828800"/>
            <a:ext cx="2146852" cy="1371600"/>
          </a:xfrm>
          <a:prstGeom prst="rect">
            <a:avLst/>
          </a:prstGeom>
        </p:spPr>
      </p:pic>
      <p:pic>
        <p:nvPicPr>
          <p:cNvPr id="13" name="Picture 12" descr="fig_67.png"/>
          <p:cNvPicPr>
            <a:picLocks noChangeAspect="1"/>
          </p:cNvPicPr>
          <p:nvPr/>
        </p:nvPicPr>
        <p:blipFill>
          <a:blip r:embed="rId11"/>
          <a:stretch>
            <a:fillRect/>
          </a:stretch>
        </p:blipFill>
        <p:spPr>
          <a:xfrm>
            <a:off x="914400" y="1828800"/>
            <a:ext cx="5310051" cy="1371600"/>
          </a:xfrm>
          <a:prstGeom prst="rect">
            <a:avLst/>
          </a:prstGeom>
        </p:spPr>
      </p:pic>
      <p:pic>
        <p:nvPicPr>
          <p:cNvPr id="14" name="Picture 13" descr="fig_68.png"/>
          <p:cNvPicPr>
            <a:picLocks noChangeAspect="1"/>
          </p:cNvPicPr>
          <p:nvPr/>
        </p:nvPicPr>
        <p:blipFill>
          <a:blip r:embed="rId12"/>
          <a:stretch>
            <a:fillRect/>
          </a:stretch>
        </p:blipFill>
        <p:spPr>
          <a:xfrm>
            <a:off x="914400" y="1828800"/>
            <a:ext cx="3644537" cy="1371600"/>
          </a:xfrm>
          <a:prstGeom prst="rect">
            <a:avLst/>
          </a:prstGeom>
        </p:spPr>
      </p:pic>
      <p:pic>
        <p:nvPicPr>
          <p:cNvPr id="15" name="Picture 14" descr="fig_69.png"/>
          <p:cNvPicPr>
            <a:picLocks noChangeAspect="1"/>
          </p:cNvPicPr>
          <p:nvPr/>
        </p:nvPicPr>
        <p:blipFill>
          <a:blip r:embed="rId13"/>
          <a:stretch>
            <a:fillRect/>
          </a:stretch>
        </p:blipFill>
        <p:spPr>
          <a:xfrm>
            <a:off x="914400" y="1828800"/>
            <a:ext cx="13642848" cy="1371600"/>
          </a:xfrm>
          <a:prstGeom prst="rect">
            <a:avLst/>
          </a:prstGeom>
        </p:spPr>
      </p:pic>
      <p:pic>
        <p:nvPicPr>
          <p:cNvPr id="16" name="Picture 15" descr="fig_70.png"/>
          <p:cNvPicPr>
            <a:picLocks noChangeAspect="1"/>
          </p:cNvPicPr>
          <p:nvPr/>
        </p:nvPicPr>
        <p:blipFill>
          <a:blip r:embed="rId14"/>
          <a:stretch>
            <a:fillRect/>
          </a:stretch>
        </p:blipFill>
        <p:spPr>
          <a:xfrm>
            <a:off x="914400" y="1828800"/>
            <a:ext cx="8398701" cy="13716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Implementation Details}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The environment is implemented with these details.}The architecture uses  directed graph structure with scale support for larger networks, the validated empirical range for this research covers 15-200 hosts. MITRE integration implements 7 kill-chain phase techniques following the ATT\&amp;CK methodology through YAML-driven modularity across all components.</a:t>
            </a:r>
          </a:p>
          <a:p/>
          <a:p>
            <a:r>
              <a:t>Having established the network environment representation, we now detail the specific agent implementations operating within this framework, beginning with the adversarial red agent.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Red Agent (Fixed Adversary)}</a:t>
            </a:r>
          </a:p>
          <a:p/>
          <a:p>
            <a:r>
              <a:t>The red agent serves as a fixed, pre-trained cyber adversary implementing MITRE ATT\&amp;CK framework  patterns. It provides consistent adversarial pressure essential for reproducible defensive training and evaluation.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Attack Behavior}</a:t>
            </a:r>
          </a:p>
          <a:p>
            <a:r>
              <a:t>The red agent executes a structured kill chain that progresses through discovery via network scanning and reconnaissance, followed by exploitation to compromise vulnerable hosts. Once established, the agent performs lateral movement to spread throughout the network from its initial foothold, ultimately attempting to achieve impact on target systems. This deterministic progression ensures reproducible attack scenarios that enable fair comparison of defensive strategies across experiments.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Role in Defensive Training}</a:t>
            </a:r>
          </a:p>
          <a:p>
            <a:r>
              <a:t>The fixed adversary design provides essential benefits for rigorous experimental evaluation. Standardized attack patterns enable controlled comparison of blue agent performance without the confounding variables introduced by adaptive opponents. The MITRE ATT\&amp;CK-based progression reflects real-world attack sophistication while maintaining experimental reproducibility. Most importantly, the fixed opponent eliminates co-evolution complexity, allowing us to isolate defensive learning dynamics and focus specifically on blue agent adaptation without concurrent adversarial learning.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State Space and Actions}</a:t>
            </a:r>
          </a:p>
          <a:p/>
          <a:p>
            <a:r>
              <a:t>The red agent operates using a deterministic policy with internal state tracking to maintain situational awareness. Rather than learning through reinforcement, it follows a fixed strategy that combines target selection with sequential killchain execution. At each timestep  [MATH] , the agent's internal state encompasses:</a:t>
            </a:r>
          </a:p>
          <a:p/>
          <a:p>
            <a:r>
              <a:t> [MATH] </a:t>
            </a:r>
          </a:p>
          <a:p/>
          <a:p>
            <a:r>
              <a:t>where  [MATH]  tracks physical location,  [MATH]  maintains reconnaissance intelligence,  [MATH]  contains discovered hosts,  [MATH]  tracks remaining targets, and  [MATH]  maps viable attack techniques per host.</a:t>
            </a:r>
          </a:p>
          <a:p/>
          <a:p>
            <a:r>
              <a:t>The red agent's action selection follows a two-stage deterministic process: (1)  using a fixed strategy (e.g., ServerDowntime prioritization), then (2)  through MITRE ATT\&amp;CK techniques per target host.</a:t>
            </a:r>
          </a:p>
          <a:p/>
          <a:p>
            <a:r>
              <a:t>The complete action set available to the red agent includes:</a:t>
            </a:r>
          </a:p>
          <a:p>
            <a:r>
              <a:t> [MATH] </a:t>
            </a:r>
          </a:p>
          <a:p/>
          <a:p>
            <a:r>
              <a:t>These actions serve different roles in the attack strategy:</a:t>
            </a:r>
          </a:p>
          <a:p/>
          <a:p>
            <a:r>
              <a:t>\item : Pingsweep and portscan are performed as initial reconnaissance steps before engaging targets</a:t>
            </a:r>
          </a:p>
          <a:p>
            <a:r>
              <a:t>\item : The main progression sequence follows  [MATH]   </a:t>
            </a:r>
          </a:p>
          <a:p>
            <a:r>
              <a:t>\item : This is handled separately when moving between hosts</a:t>
            </a:r>
          </a:p>
          <a:p/>
          <a:p/>
          <a:p>
            <a:r>
              <a:t>At each timestep, the agent executes exactly one action:</a:t>
            </a:r>
          </a:p>
          <a:p/>
          <a:p>
            <a:r>
              <a:t> [MATH] </a:t>
            </a:r>
          </a:p>
          <a:p/>
          <a:p>
            <a:r>
              <a:t>This deterministic approach provides consistent adversarial pressure for blue agent learning while reflecting realistic attack progression patterns observed in cybersecurity incidents.</a:t>
            </a:r>
          </a:p>
          <a:p/>
          <a:p>
            <a:r>
              <a:t>The adversarial learning framework is illustrated in Figure~.</a:t>
            </a:r>
          </a:p>
          <a:p/>
          <a:p>
            <a:r>
              <a:t>[H]</a:t>
            </a:r>
          </a:p>
          <a:p>
            <a:r>
              <a:t>\centering</a:t>
            </a:r>
          </a:p>
          <a:p/>
          <a:p>
            <a:r>
              <a:t>\medskip</a:t>
            </a:r>
          </a:p>
          <a:p>
            <a:r>
              <a:t>{max width=0.95\linewidth,center}</a:t>
            </a:r>
          </a:p>
          <a:p>
            <a:r>
              <a:t>[font=\footnotesize,node distance=2.5cm,box/.style={draw=black,rounded corners,minimum width=3.2cm,minimum height=1.5cm,align=center,fill=white,thick}]</a:t>
            </a:r>
          </a:p>
          <a:p>
            <a:r>
              <a:t>    % Nodes with slightly better spacing and sizing</a:t>
            </a:r>
          </a:p>
          <a:p>
            <a:r>
              <a:t>    \node[box,fill=red!25] at (0,0) (redA) {\\ [MATH]  (fixed)};</a:t>
            </a:r>
          </a:p>
          <a:p>
            <a:r>
              <a:t>    \node[box,fill=blue!15] at (6,0) (env) {\\State  [MATH] \\Attack Surface};</a:t>
            </a:r>
          </a:p>
          <a:p>
            <a:r>
              <a:t>    \node[box,fill=green!20] at (12,0) (blueA) {\\ [MATH]  (PPO)};</a:t>
            </a:r>
          </a:p>
          <a:p>
            <a:r>
              <a:t>    </a:t>
            </a:r>
          </a:p>
          <a:p>
            <a:r>
              <a:t>    \draw[-&gt;,very thick,red!80] (redA) -- node[above,font=\scriptsize,red!80]{Actions} (env);</a:t>
            </a:r>
          </a:p>
          <a:p>
            <a:r>
              <a:t>    \draw[-&gt;,very thick,blue!80] (env) -- node[above,font=\scriptsize,blue!80]{Obs.} (blueA);</a:t>
            </a:r>
          </a:p>
          <a:p>
            <a:r>
              <a:t>    \draw[-&gt;,very thick,black] (blueA) to[out=210,in=330] node[below,font=\scriptsize,black]{Defense} (env);</a:t>
            </a:r>
          </a:p>
          <a:p>
            <a:r>
              <a:t>    \draw[-&gt;,very thick,red!80] (env) to[out=30,in=150] node[above,font=\scriptsize,red!80]{Reward} (blueA);</a:t>
            </a:r>
          </a:p>
          <a:p>
            <a:r>
              <a:t>    \draw[-&gt;,very thick,black!70] (env) to[out=210,in=-30] node[below,font=\scriptsize,black!70]{State  [MATH] } (redA);</a:t>
            </a:r>
          </a:p>
          <a:p/>
          <a:p/>
          <a:p/>
          <a:p/>
          <a:p/>
        </p:txBody>
      </p:sp>
      <p:pic>
        <p:nvPicPr>
          <p:cNvPr id="4" name="Picture 3" descr="fig_12.png"/>
          <p:cNvPicPr>
            <a:picLocks noChangeAspect="1"/>
          </p:cNvPicPr>
          <p:nvPr/>
        </p:nvPicPr>
        <p:blipFill>
          <a:blip r:embed="rId2"/>
          <a:stretch>
            <a:fillRect/>
          </a:stretch>
        </p:blipFill>
        <p:spPr>
          <a:xfrm>
            <a:off x="914400" y="1828800"/>
            <a:ext cx="755374" cy="1371600"/>
          </a:xfrm>
          <a:prstGeom prst="rect">
            <a:avLst/>
          </a:prstGeom>
        </p:spPr>
      </p:pic>
      <p:pic>
        <p:nvPicPr>
          <p:cNvPr id="5" name="Picture 4" descr="fig_72.png"/>
          <p:cNvPicPr>
            <a:picLocks noChangeAspect="1"/>
          </p:cNvPicPr>
          <p:nvPr/>
        </p:nvPicPr>
        <p:blipFill>
          <a:blip r:embed="rId3"/>
          <a:stretch>
            <a:fillRect/>
          </a:stretch>
        </p:blipFill>
        <p:spPr>
          <a:xfrm>
            <a:off x="914400" y="1828800"/>
            <a:ext cx="36355106" cy="1371600"/>
          </a:xfrm>
          <a:prstGeom prst="rect">
            <a:avLst/>
          </a:prstGeom>
        </p:spPr>
      </p:pic>
      <p:pic>
        <p:nvPicPr>
          <p:cNvPr id="6" name="Picture 5" descr="fig_73.png"/>
          <p:cNvPicPr>
            <a:picLocks noChangeAspect="1"/>
          </p:cNvPicPr>
          <p:nvPr/>
        </p:nvPicPr>
        <p:blipFill>
          <a:blip r:embed="rId4"/>
          <a:stretch>
            <a:fillRect/>
          </a:stretch>
        </p:blipFill>
        <p:spPr>
          <a:xfrm>
            <a:off x="914400" y="1828800"/>
            <a:ext cx="9729216" cy="1371600"/>
          </a:xfrm>
          <a:prstGeom prst="rect">
            <a:avLst/>
          </a:prstGeom>
        </p:spPr>
      </p:pic>
      <p:pic>
        <p:nvPicPr>
          <p:cNvPr id="7" name="Picture 6" descr="fig_74.png"/>
          <p:cNvPicPr>
            <a:picLocks noChangeAspect="1"/>
          </p:cNvPicPr>
          <p:nvPr/>
        </p:nvPicPr>
        <p:blipFill>
          <a:blip r:embed="rId5"/>
          <a:stretch>
            <a:fillRect/>
          </a:stretch>
        </p:blipFill>
        <p:spPr>
          <a:xfrm>
            <a:off x="914400" y="1828800"/>
            <a:ext cx="4359058" cy="1371600"/>
          </a:xfrm>
          <a:prstGeom prst="rect">
            <a:avLst/>
          </a:prstGeom>
        </p:spPr>
      </p:pic>
      <p:pic>
        <p:nvPicPr>
          <p:cNvPr id="8" name="Picture 7" descr="fig_75.png"/>
          <p:cNvPicPr>
            <a:picLocks noChangeAspect="1"/>
          </p:cNvPicPr>
          <p:nvPr/>
        </p:nvPicPr>
        <p:blipFill>
          <a:blip r:embed="rId6"/>
          <a:stretch>
            <a:fillRect/>
          </a:stretch>
        </p:blipFill>
        <p:spPr>
          <a:xfrm>
            <a:off x="914400" y="1828800"/>
            <a:ext cx="10405872" cy="1371600"/>
          </a:xfrm>
          <a:prstGeom prst="rect">
            <a:avLst/>
          </a:prstGeom>
        </p:spPr>
      </p:pic>
      <p:pic>
        <p:nvPicPr>
          <p:cNvPr id="9" name="Picture 8" descr="fig_76.png"/>
          <p:cNvPicPr>
            <a:picLocks noChangeAspect="1"/>
          </p:cNvPicPr>
          <p:nvPr/>
        </p:nvPicPr>
        <p:blipFill>
          <a:blip r:embed="rId7"/>
          <a:stretch>
            <a:fillRect/>
          </a:stretch>
        </p:blipFill>
        <p:spPr>
          <a:xfrm>
            <a:off x="914400" y="1828800"/>
            <a:ext cx="10332720" cy="1371600"/>
          </a:xfrm>
          <a:prstGeom prst="rect">
            <a:avLst/>
          </a:prstGeom>
        </p:spPr>
      </p:pic>
      <p:pic>
        <p:nvPicPr>
          <p:cNvPr id="10" name="Picture 9" descr="fig_77.png"/>
          <p:cNvPicPr>
            <a:picLocks noChangeAspect="1"/>
          </p:cNvPicPr>
          <p:nvPr/>
        </p:nvPicPr>
        <p:blipFill>
          <a:blip r:embed="rId8"/>
          <a:stretch>
            <a:fillRect/>
          </a:stretch>
        </p:blipFill>
        <p:spPr>
          <a:xfrm>
            <a:off x="914400" y="1828800"/>
            <a:ext cx="7863840" cy="1371600"/>
          </a:xfrm>
          <a:prstGeom prst="rect">
            <a:avLst/>
          </a:prstGeom>
        </p:spPr>
      </p:pic>
      <p:pic>
        <p:nvPicPr>
          <p:cNvPr id="11" name="Picture 10" descr="fig_78.png"/>
          <p:cNvPicPr>
            <a:picLocks noChangeAspect="1"/>
          </p:cNvPicPr>
          <p:nvPr/>
        </p:nvPicPr>
        <p:blipFill>
          <a:blip r:embed="rId9"/>
          <a:stretch>
            <a:fillRect/>
          </a:stretch>
        </p:blipFill>
        <p:spPr>
          <a:xfrm>
            <a:off x="914400" y="1828800"/>
            <a:ext cx="43146133" cy="1371600"/>
          </a:xfrm>
          <a:prstGeom prst="rect">
            <a:avLst/>
          </a:prstGeom>
        </p:spPr>
      </p:pic>
      <p:pic>
        <p:nvPicPr>
          <p:cNvPr id="12" name="Picture 11" descr="fig_79.png"/>
          <p:cNvPicPr>
            <a:picLocks noChangeAspect="1"/>
          </p:cNvPicPr>
          <p:nvPr/>
        </p:nvPicPr>
        <p:blipFill>
          <a:blip r:embed="rId10"/>
          <a:stretch>
            <a:fillRect/>
          </a:stretch>
        </p:blipFill>
        <p:spPr>
          <a:xfrm>
            <a:off x="914400" y="1828800"/>
            <a:ext cx="24670011" cy="1371600"/>
          </a:xfrm>
          <a:prstGeom prst="rect">
            <a:avLst/>
          </a:prstGeom>
        </p:spPr>
      </p:pic>
      <p:pic>
        <p:nvPicPr>
          <p:cNvPr id="13" name="Picture 12" descr="fig_80.png"/>
          <p:cNvPicPr>
            <a:picLocks noChangeAspect="1"/>
          </p:cNvPicPr>
          <p:nvPr/>
        </p:nvPicPr>
        <p:blipFill>
          <a:blip r:embed="rId11"/>
          <a:stretch>
            <a:fillRect/>
          </a:stretch>
        </p:blipFill>
        <p:spPr>
          <a:xfrm>
            <a:off x="914400" y="1828800"/>
            <a:ext cx="23348022" cy="1371600"/>
          </a:xfrm>
          <a:prstGeom prst="rect">
            <a:avLst/>
          </a:prstGeom>
        </p:spPr>
      </p:pic>
      <p:pic>
        <p:nvPicPr>
          <p:cNvPr id="14" name="Picture 13" descr="fig_28.png"/>
          <p:cNvPicPr>
            <a:picLocks noChangeAspect="1"/>
          </p:cNvPicPr>
          <p:nvPr/>
        </p:nvPicPr>
        <p:blipFill>
          <a:blip r:embed="rId12"/>
          <a:stretch>
            <a:fillRect/>
          </a:stretch>
        </p:blipFill>
        <p:spPr>
          <a:xfrm>
            <a:off x="914400" y="1828800"/>
            <a:ext cx="1881051" cy="1371600"/>
          </a:xfrm>
          <a:prstGeom prst="rect">
            <a:avLst/>
          </a:prstGeom>
        </p:spPr>
      </p:pic>
      <p:pic>
        <p:nvPicPr>
          <p:cNvPr id="15" name="Picture 14" descr="fig_82.png"/>
          <p:cNvPicPr>
            <a:picLocks noChangeAspect="1"/>
          </p:cNvPicPr>
          <p:nvPr/>
        </p:nvPicPr>
        <p:blipFill>
          <a:blip r:embed="rId13"/>
          <a:stretch>
            <a:fillRect/>
          </a:stretch>
        </p:blipFill>
        <p:spPr>
          <a:xfrm>
            <a:off x="914400" y="1828800"/>
            <a:ext cx="1351722" cy="1371600"/>
          </a:xfrm>
          <a:prstGeom prst="rect">
            <a:avLst/>
          </a:prstGeom>
        </p:spPr>
      </p:pic>
      <p:pic>
        <p:nvPicPr>
          <p:cNvPr id="16" name="Picture 15" descr="fig_11.png"/>
          <p:cNvPicPr>
            <a:picLocks noChangeAspect="1"/>
          </p:cNvPicPr>
          <p:nvPr/>
        </p:nvPicPr>
        <p:blipFill>
          <a:blip r:embed="rId14"/>
          <a:stretch>
            <a:fillRect/>
          </a:stretch>
        </p:blipFill>
        <p:spPr>
          <a:xfrm>
            <a:off x="914400" y="1828800"/>
            <a:ext cx="2076994" cy="1371600"/>
          </a:xfrm>
          <a:prstGeom prst="rect">
            <a:avLst/>
          </a:prstGeom>
        </p:spPr>
      </p:pic>
      <p:pic>
        <p:nvPicPr>
          <p:cNvPr id="17" name="Picture 16" descr="fig_84.png"/>
          <p:cNvPicPr>
            <a:picLocks noChangeAspect="1"/>
          </p:cNvPicPr>
          <p:nvPr/>
        </p:nvPicPr>
        <p:blipFill>
          <a:blip r:embed="rId15"/>
          <a:stretch>
            <a:fillRect/>
          </a:stretch>
        </p:blipFill>
        <p:spPr>
          <a:xfrm>
            <a:off x="914400" y="1828800"/>
            <a:ext cx="1053548" cy="13716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Blue Agent (Learnable Defender)}</a:t>
            </a:r>
          </a:p>
          <a:p/>
          <a:p>
            <a:r>
              <a:t>The blue agent implements adaptive defensive strategies emphasizing cyber deception and strategic network isolation through PPO-based reinforcement learning.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State Space and Observations}</a:t>
            </a:r>
          </a:p>
          <a:p/>
          <a:p>
            <a:r>
              <a:t>The blue agent's state space  [MATH]  has a simplified observation structure:</a:t>
            </a:r>
          </a:p>
          <a:p/>
          <a:p>
            <a:r>
              <a:t> [MATH] </a:t>
            </a:r>
          </a:p>
          <a:p/>
          <a:p>
            <a:r>
              <a:t>where  [MATH]  represents immediate threat indicators per host,  [MATH]  captures cumulative attack memory enabling pattern learning, and  [MATH]  contains environmental constants: a fixed value of  [MATH]  and the total number of active decoys.</a:t>
            </a:r>
          </a:p>
          <a:p/>
          <a:p/>
          <a:p/>
          <a:p>
            <a:r>
              <a:t>The blue agent's state space dimension is formally defined as:</a:t>
            </a:r>
          </a:p>
          <a:p>
            <a:r>
              <a:t> [MATH] </a:t>
            </a:r>
          </a:p>
          <a:p/>
          <a:p>
            <a:r>
              <a:t>This compact representation efficiently captures all necessary defensive intelligence: alert components contribute  [MATH]  dimensions (current + historical threat indicators per host), while metadata components add  [MATH]  dimensions (environmental constants: fixed value  [MATH]  and total decoy count).</a:t>
            </a:r>
          </a:p>
          <a:p/>
          <a:p>
            <a:r>
              <a:t>This structure enables both immediate threat response and strategic pattern learning. Figure~ provides a detailed breakdown of the observation vector structure and dimensionality.</a:t>
            </a:r>
          </a:p>
          <a:p/>
          <a:p>
            <a:r>
              <a:t>% Enhanced observation_vector figure matching comprehensive layout design</a:t>
            </a:r>
          </a:p>
          <a:p>
            <a:r>
              <a:t>[htbp]</a:t>
            </a:r>
          </a:p>
          <a:p>
            <a:r>
              <a:t>\centering</a:t>
            </a:r>
          </a:p>
          <a:p>
            <a:r>
              <a:t>[node distance=0.3cm and 0.8cm, every node/.style={font=\small}]</a:t>
            </a:r>
          </a:p>
          <a:p/>
          <a:p>
            <a:r>
              <a:t>    % Refined styles for optimal presentation</a:t>
            </a:r>
          </a:p>
          <a:p>
            <a:r>
              <a:t>    \tikzset{</a:t>
            </a:r>
          </a:p>
          <a:p>
            <a:r>
              <a:t>        vectorbox/.style={draw=black, rounded corners=3pt, fill=white, inner sep=8pt, minimum width=3.2cm, minimum height=2.0cm, align=center, thick, text width=3.0cm},</a:t>
            </a:r>
          </a:p>
          <a:p>
            <a:r>
              <a:t>        totalsection/.style={draw=black, rounded corners=3pt, fill=gray!10, inner sep=10pt, minimum width=13cm, align=center, thick},</a:t>
            </a:r>
          </a:p>
          <a:p>
            <a:r>
              <a:t>        arrow/.style={-&gt;, thick, black, &gt;=stealth, line width=1pt},</a:t>
            </a:r>
          </a:p>
          <a:p>
            <a:r>
              <a:t>        dimension/.style={font=\footnotesize\ttfamily, color=blue!70!black}</a:t>
            </a:r>
          </a:p>
          <a:p>
            <a:r>
              <a:t>    }</a:t>
            </a:r>
          </a:p>
          <a:p/>
          <a:p>
            <a:r>
              <a:t>    % Main vector components in horizontal layout</a:t>
            </a:r>
          </a:p>
          <a:p>
            <a:r>
              <a:t>    \node[vectorbox, fill=red!15] (current) {</a:t>
            </a:r>
          </a:p>
          <a:p>
            <a:r>
              <a:t>        \\</a:t>
            </a:r>
          </a:p>
          <a:p>
            <a:r>
              <a:t>        { [MATH]  dimensions}\\</a:t>
            </a:r>
          </a:p>
          <a:p>
            <a:r>
              <a:t>        \footnotesize immediate threat detection\\</a:t>
            </a:r>
          </a:p>
          <a:p>
            <a:r>
              <a:t>        \footnotesize per host</a:t>
            </a:r>
          </a:p>
          <a:p>
            <a:r>
              <a:t>    };</a:t>
            </a:r>
          </a:p>
          <a:p>
            <a:r>
              <a:t>    </a:t>
            </a:r>
          </a:p>
          <a:p>
            <a:r>
              <a:t>    \node[vectorbox, fill=blue!15, right=of current] (historical) {</a:t>
            </a:r>
          </a:p>
          <a:p>
            <a:r>
              <a:t>        \\</a:t>
            </a:r>
          </a:p>
          <a:p>
            <a:r>
              <a:t>        { [MATH]  dimensions}\\</a:t>
            </a:r>
          </a:p>
          <a:p>
            <a:r>
              <a:t>        \footnotesize temporal pattern learning\\</a:t>
            </a:r>
          </a:p>
          <a:p>
            <a:r>
              <a:t>        \footnotesize sticky memory</a:t>
            </a:r>
          </a:p>
          <a:p>
            <a:r>
              <a:t>    };</a:t>
            </a:r>
          </a:p>
          <a:p>
            <a:r>
              <a:t>    </a:t>
            </a:r>
          </a:p>
          <a:p>
            <a:r>
              <a:t>    \node[vectorbox, fill=green!15, right=of historical] (padding) {</a:t>
            </a:r>
          </a:p>
          <a:p>
            <a:r>
              <a:t>        \\</a:t>
            </a:r>
          </a:p>
          <a:p>
            <a:r>
              <a:t>        {1 dimension}\\</a:t>
            </a:r>
          </a:p>
          <a:p>
            <a:r>
              <a:t>        \footnotesize Vector alignment\\</a:t>
            </a:r>
          </a:p>
          <a:p>
            <a:r>
              <a:t>        \footnotesize and structure</a:t>
            </a:r>
          </a:p>
          <a:p>
            <a:r>
              <a:t>    };</a:t>
            </a:r>
          </a:p>
          <a:p>
            <a:r>
              <a:t>    </a:t>
            </a:r>
          </a:p>
          <a:p>
            <a:r>
              <a:t>    \node[vectorbox, fill=yellow!15, right=of padding] (decoy) {</a:t>
            </a:r>
          </a:p>
          <a:p>
            <a:r>
              <a:t>        \\</a:t>
            </a:r>
          </a:p>
          <a:p>
            <a:r>
              <a:t>        {1 dimension}\\</a:t>
            </a:r>
          </a:p>
          <a:p>
            <a:r>
              <a:t>        \footnotesize Strategic context\\</a:t>
            </a:r>
          </a:p>
          <a:p>
            <a:r>
              <a:t>        \footnotesize and deception</a:t>
            </a:r>
          </a:p>
          <a:p>
            <a:r>
              <a:t>    };</a:t>
            </a:r>
          </a:p>
          <a:p/>
          <a:p>
            <a:r>
              <a:t>    % Total dimension summary</a:t>
            </a:r>
          </a:p>
          <a:p>
            <a:r>
              <a:t>    \node[totalsection, below=1.5cm of historical] (total) {</a:t>
            </a:r>
          </a:p>
          <a:p>
            <a:r>
              <a:t>         [MATH] \\</a:t>
            </a:r>
          </a:p>
          <a:p>
            <a:r>
              <a:t>        \footnotesize Host-aligned alert segments + metadata for\\</a:t>
            </a:r>
          </a:p>
          <a:p>
            <a:r>
              <a:t>        \footnotesize comprehensive strategic decision-making</a:t>
            </a:r>
          </a:p>
          <a:p>
            <a:r>
              <a:t>    };</a:t>
            </a:r>
          </a:p>
          <a:p/>
          <a:p>
            <a:r>
              <a:t>    % Connection arrows showing information flow</a:t>
            </a:r>
          </a:p>
          <a:p>
            <a:r>
              <a:t>    \draw[arrow] (current.south) -- ++(0,-0.4) -| (total.north west);</a:t>
            </a:r>
          </a:p>
          <a:p>
            <a:r>
              <a:t>    \draw[arrow] (historical.south) -- ++(0,-0.7) -- (total.north);</a:t>
            </a:r>
          </a:p>
          <a:p>
            <a:r>
              <a:t>    \draw[arrow] (padding.south) -- ++(0,-0.4) -| (total.north east);</a:t>
            </a:r>
          </a:p>
          <a:p>
            <a:r>
              <a:t>    \draw[arrow] (decoy.south) -- ++(0,-0.2) -| (total.north east);</a:t>
            </a:r>
          </a:p>
          <a:p/>
          <a:p/>
          <a:p/>
          <a:p/>
          <a:p/>
        </p:txBody>
      </p:sp>
      <p:pic>
        <p:nvPicPr>
          <p:cNvPr id="4" name="Picture 3" descr="fig_13.png"/>
          <p:cNvPicPr>
            <a:picLocks noChangeAspect="1"/>
          </p:cNvPicPr>
          <p:nvPr/>
        </p:nvPicPr>
        <p:blipFill>
          <a:blip r:embed="rId2"/>
          <a:stretch>
            <a:fillRect/>
          </a:stretch>
        </p:blipFill>
        <p:spPr>
          <a:xfrm>
            <a:off x="914400" y="1828800"/>
            <a:ext cx="4222679" cy="1371600"/>
          </a:xfrm>
          <a:prstGeom prst="rect">
            <a:avLst/>
          </a:prstGeom>
        </p:spPr>
      </p:pic>
      <p:pic>
        <p:nvPicPr>
          <p:cNvPr id="5" name="Picture 4" descr="fig_86.png"/>
          <p:cNvPicPr>
            <a:picLocks noChangeAspect="1"/>
          </p:cNvPicPr>
          <p:nvPr/>
        </p:nvPicPr>
        <p:blipFill>
          <a:blip r:embed="rId3"/>
          <a:stretch>
            <a:fillRect/>
          </a:stretch>
        </p:blipFill>
        <p:spPr>
          <a:xfrm>
            <a:off x="914400" y="1828800"/>
            <a:ext cx="3676371" cy="1371600"/>
          </a:xfrm>
          <a:prstGeom prst="rect">
            <a:avLst/>
          </a:prstGeom>
        </p:spPr>
      </p:pic>
      <p:pic>
        <p:nvPicPr>
          <p:cNvPr id="6" name="Picture 5" descr="fig_87.png"/>
          <p:cNvPicPr>
            <a:picLocks noChangeAspect="1"/>
          </p:cNvPicPr>
          <p:nvPr/>
        </p:nvPicPr>
        <p:blipFill>
          <a:blip r:embed="rId4"/>
          <a:stretch>
            <a:fillRect/>
          </a:stretch>
        </p:blipFill>
        <p:spPr>
          <a:xfrm>
            <a:off x="914400" y="1828800"/>
            <a:ext cx="12443552" cy="1371600"/>
          </a:xfrm>
          <a:prstGeom prst="rect">
            <a:avLst/>
          </a:prstGeom>
        </p:spPr>
      </p:pic>
      <p:pic>
        <p:nvPicPr>
          <p:cNvPr id="7" name="Picture 6" descr="fig_88.png"/>
          <p:cNvPicPr>
            <a:picLocks noChangeAspect="1"/>
          </p:cNvPicPr>
          <p:nvPr/>
        </p:nvPicPr>
        <p:blipFill>
          <a:blip r:embed="rId5"/>
          <a:stretch>
            <a:fillRect/>
          </a:stretch>
        </p:blipFill>
        <p:spPr>
          <a:xfrm>
            <a:off x="914400" y="1828800"/>
            <a:ext cx="11749489" cy="1371600"/>
          </a:xfrm>
          <a:prstGeom prst="rect">
            <a:avLst/>
          </a:prstGeom>
        </p:spPr>
      </p:pic>
      <p:pic>
        <p:nvPicPr>
          <p:cNvPr id="8" name="Picture 7" descr="fig_89.png"/>
          <p:cNvPicPr>
            <a:picLocks noChangeAspect="1"/>
          </p:cNvPicPr>
          <p:nvPr/>
        </p:nvPicPr>
        <p:blipFill>
          <a:blip r:embed="rId6"/>
          <a:stretch>
            <a:fillRect/>
          </a:stretch>
        </p:blipFill>
        <p:spPr>
          <a:xfrm>
            <a:off x="914400" y="1828800"/>
            <a:ext cx="7983415" cy="1371600"/>
          </a:xfrm>
          <a:prstGeom prst="rect">
            <a:avLst/>
          </a:prstGeom>
        </p:spPr>
      </p:pic>
      <p:pic>
        <p:nvPicPr>
          <p:cNvPr id="9" name="Picture 8" descr="fig_90.png"/>
          <p:cNvPicPr>
            <a:picLocks noChangeAspect="1"/>
          </p:cNvPicPr>
          <p:nvPr/>
        </p:nvPicPr>
        <p:blipFill>
          <a:blip r:embed="rId7"/>
          <a:stretch>
            <a:fillRect/>
          </a:stretch>
        </p:blipFill>
        <p:spPr>
          <a:xfrm>
            <a:off x="914400" y="1828800"/>
            <a:ext cx="1868557" cy="1371600"/>
          </a:xfrm>
          <a:prstGeom prst="rect">
            <a:avLst/>
          </a:prstGeom>
        </p:spPr>
      </p:pic>
      <p:pic>
        <p:nvPicPr>
          <p:cNvPr id="10" name="Picture 9" descr="fig_91.png"/>
          <p:cNvPicPr>
            <a:picLocks noChangeAspect="1"/>
          </p:cNvPicPr>
          <p:nvPr/>
        </p:nvPicPr>
        <p:blipFill>
          <a:blip r:embed="rId8"/>
          <a:stretch>
            <a:fillRect/>
          </a:stretch>
        </p:blipFill>
        <p:spPr>
          <a:xfrm>
            <a:off x="914400" y="1828800"/>
            <a:ext cx="8446688" cy="1371600"/>
          </a:xfrm>
          <a:prstGeom prst="rect">
            <a:avLst/>
          </a:prstGeom>
        </p:spPr>
      </p:pic>
      <p:pic>
        <p:nvPicPr>
          <p:cNvPr id="11" name="Picture 10" descr="fig_92.png"/>
          <p:cNvPicPr>
            <a:picLocks noChangeAspect="1"/>
          </p:cNvPicPr>
          <p:nvPr/>
        </p:nvPicPr>
        <p:blipFill>
          <a:blip r:embed="rId9"/>
          <a:stretch>
            <a:fillRect/>
          </a:stretch>
        </p:blipFill>
        <p:spPr>
          <a:xfrm>
            <a:off x="914400" y="1828800"/>
            <a:ext cx="2523744" cy="1371600"/>
          </a:xfrm>
          <a:prstGeom prst="rect">
            <a:avLst/>
          </a:prstGeom>
        </p:spPr>
      </p:pic>
      <p:pic>
        <p:nvPicPr>
          <p:cNvPr id="12" name="Picture 11" descr="fig_93.png"/>
          <p:cNvPicPr>
            <a:picLocks noChangeAspect="1"/>
          </p:cNvPicPr>
          <p:nvPr/>
        </p:nvPicPr>
        <p:blipFill>
          <a:blip r:embed="rId10"/>
          <a:stretch>
            <a:fillRect/>
          </a:stretch>
        </p:blipFill>
        <p:spPr>
          <a:xfrm>
            <a:off x="914400" y="1828800"/>
            <a:ext cx="894522" cy="1371600"/>
          </a:xfrm>
          <a:prstGeom prst="rect">
            <a:avLst/>
          </a:prstGeom>
        </p:spPr>
      </p:pic>
      <p:pic>
        <p:nvPicPr>
          <p:cNvPr id="13" name="Picture 12" descr="fig_90.png"/>
          <p:cNvPicPr>
            <a:picLocks noChangeAspect="1"/>
          </p:cNvPicPr>
          <p:nvPr/>
        </p:nvPicPr>
        <p:blipFill>
          <a:blip r:embed="rId7"/>
          <a:stretch>
            <a:fillRect/>
          </a:stretch>
        </p:blipFill>
        <p:spPr>
          <a:xfrm>
            <a:off x="914400" y="1828800"/>
            <a:ext cx="1868557" cy="1371600"/>
          </a:xfrm>
          <a:prstGeom prst="rect">
            <a:avLst/>
          </a:prstGeom>
        </p:spPr>
      </p:pic>
      <p:pic>
        <p:nvPicPr>
          <p:cNvPr id="14" name="Picture 13" descr="fig_95.png"/>
          <p:cNvPicPr>
            <a:picLocks noChangeAspect="1"/>
          </p:cNvPicPr>
          <p:nvPr/>
        </p:nvPicPr>
        <p:blipFill>
          <a:blip r:embed="rId11"/>
          <a:stretch>
            <a:fillRect/>
          </a:stretch>
        </p:blipFill>
        <p:spPr>
          <a:xfrm>
            <a:off x="914400" y="1828800"/>
            <a:ext cx="1847088" cy="1371600"/>
          </a:xfrm>
          <a:prstGeom prst="rect">
            <a:avLst/>
          </a:prstGeom>
        </p:spPr>
      </p:pic>
      <p:pic>
        <p:nvPicPr>
          <p:cNvPr id="15" name="Picture 14" descr="fig_95.png"/>
          <p:cNvPicPr>
            <a:picLocks noChangeAspect="1"/>
          </p:cNvPicPr>
          <p:nvPr/>
        </p:nvPicPr>
        <p:blipFill>
          <a:blip r:embed="rId11"/>
          <a:stretch>
            <a:fillRect/>
          </a:stretch>
        </p:blipFill>
        <p:spPr>
          <a:xfrm>
            <a:off x="914400" y="1828800"/>
            <a:ext cx="1847088" cy="1371600"/>
          </a:xfrm>
          <a:prstGeom prst="rect">
            <a:avLst/>
          </a:prstGeom>
        </p:spPr>
      </p:pic>
      <p:pic>
        <p:nvPicPr>
          <p:cNvPr id="16" name="Picture 15" descr="fig_30.png"/>
          <p:cNvPicPr>
            <a:picLocks noChangeAspect="1"/>
          </p:cNvPicPr>
          <p:nvPr/>
        </p:nvPicPr>
        <p:blipFill>
          <a:blip r:embed="rId12"/>
          <a:stretch>
            <a:fillRect/>
          </a:stretch>
        </p:blipFill>
        <p:spPr>
          <a:xfrm>
            <a:off x="914400" y="1828800"/>
            <a:ext cx="7040880" cy="13716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Action Space and Defense Operations}</a:t>
            </a:r>
          </a:p>
          <a:p/>
          <a:p>
            <a:r>
              <a:t>The blue agent's action space consists of defensive operations implemented as a discrete action space:</a:t>
            </a:r>
          </a:p>
          <a:p/>
          <a:p>
            <a:r>
              <a:t> [MATH] </a:t>
            </a:r>
          </a:p>
          <a:p/>
          <a:p>
            <a:r>
              <a:t>where  [MATH]  deploys a decoy on subnet  [MATH] ,  [MATH]  removes a decoy from subnet  [MATH] , and  [MATH]  represents no action (observation only).</a:t>
            </a:r>
          </a:p>
          <a:p/>
          <a:p>
            <a:r>
              <a:t>Total action space size:  [MATH] .</a:t>
            </a:r>
          </a:p>
        </p:txBody>
      </p:sp>
      <p:pic>
        <p:nvPicPr>
          <p:cNvPr id="4" name="Picture 3" descr="fig_98.png"/>
          <p:cNvPicPr>
            <a:picLocks noChangeAspect="1"/>
          </p:cNvPicPr>
          <p:nvPr/>
        </p:nvPicPr>
        <p:blipFill>
          <a:blip r:embed="rId2"/>
          <a:stretch>
            <a:fillRect/>
          </a:stretch>
        </p:blipFill>
        <p:spPr>
          <a:xfrm>
            <a:off x="914400" y="1828800"/>
            <a:ext cx="15611582" cy="1371600"/>
          </a:xfrm>
          <a:prstGeom prst="rect">
            <a:avLst/>
          </a:prstGeom>
        </p:spPr>
      </p:pic>
      <p:pic>
        <p:nvPicPr>
          <p:cNvPr id="5" name="Picture 4" descr="fig_99.png"/>
          <p:cNvPicPr>
            <a:picLocks noChangeAspect="1"/>
          </p:cNvPicPr>
          <p:nvPr/>
        </p:nvPicPr>
        <p:blipFill>
          <a:blip r:embed="rId3"/>
          <a:stretch>
            <a:fillRect/>
          </a:stretch>
        </p:blipFill>
        <p:spPr>
          <a:xfrm>
            <a:off x="914400" y="1828800"/>
            <a:ext cx="18232244" cy="1371600"/>
          </a:xfrm>
          <a:prstGeom prst="rect">
            <a:avLst/>
          </a:prstGeom>
        </p:spPr>
      </p:pic>
      <p:pic>
        <p:nvPicPr>
          <p:cNvPr id="6" name="Picture 5" descr="fig_100.png"/>
          <p:cNvPicPr>
            <a:picLocks noChangeAspect="1"/>
          </p:cNvPicPr>
          <p:nvPr/>
        </p:nvPicPr>
        <p:blipFill>
          <a:blip r:embed="rId4"/>
          <a:stretch>
            <a:fillRect/>
          </a:stretch>
        </p:blipFill>
        <p:spPr>
          <a:xfrm>
            <a:off x="914400" y="1828800"/>
            <a:ext cx="1232452" cy="1371600"/>
          </a:xfrm>
          <a:prstGeom prst="rect">
            <a:avLst/>
          </a:prstGeom>
        </p:spPr>
      </p:pic>
      <p:pic>
        <p:nvPicPr>
          <p:cNvPr id="7" name="Picture 6" descr="fig_101.png"/>
          <p:cNvPicPr>
            <a:picLocks noChangeAspect="1"/>
          </p:cNvPicPr>
          <p:nvPr/>
        </p:nvPicPr>
        <p:blipFill>
          <a:blip r:embed="rId5"/>
          <a:stretch>
            <a:fillRect/>
          </a:stretch>
        </p:blipFill>
        <p:spPr>
          <a:xfrm>
            <a:off x="914400" y="1828800"/>
            <a:ext cx="19459575" cy="1371600"/>
          </a:xfrm>
          <a:prstGeom prst="rect">
            <a:avLst/>
          </a:prstGeom>
        </p:spPr>
      </p:pic>
      <p:pic>
        <p:nvPicPr>
          <p:cNvPr id="8" name="Picture 7" descr="fig_100.png"/>
          <p:cNvPicPr>
            <a:picLocks noChangeAspect="1"/>
          </p:cNvPicPr>
          <p:nvPr/>
        </p:nvPicPr>
        <p:blipFill>
          <a:blip r:embed="rId4"/>
          <a:stretch>
            <a:fillRect/>
          </a:stretch>
        </p:blipFill>
        <p:spPr>
          <a:xfrm>
            <a:off x="914400" y="1828800"/>
            <a:ext cx="1232452" cy="1371600"/>
          </a:xfrm>
          <a:prstGeom prst="rect">
            <a:avLst/>
          </a:prstGeom>
        </p:spPr>
      </p:pic>
      <p:pic>
        <p:nvPicPr>
          <p:cNvPr id="9" name="Picture 8" descr="fig_103.png"/>
          <p:cNvPicPr>
            <a:picLocks noChangeAspect="1"/>
          </p:cNvPicPr>
          <p:nvPr/>
        </p:nvPicPr>
        <p:blipFill>
          <a:blip r:embed="rId6"/>
          <a:stretch>
            <a:fillRect/>
          </a:stretch>
        </p:blipFill>
        <p:spPr>
          <a:xfrm>
            <a:off x="914400" y="1828800"/>
            <a:ext cx="4340268" cy="1371600"/>
          </a:xfrm>
          <a:prstGeom prst="rect">
            <a:avLst/>
          </a:prstGeom>
        </p:spPr>
      </p:pic>
      <p:pic>
        <p:nvPicPr>
          <p:cNvPr id="10" name="Picture 9" descr="fig_104.png"/>
          <p:cNvPicPr>
            <a:picLocks noChangeAspect="1"/>
          </p:cNvPicPr>
          <p:nvPr/>
        </p:nvPicPr>
        <p:blipFill>
          <a:blip r:embed="rId7"/>
          <a:stretch>
            <a:fillRect/>
          </a:stretch>
        </p:blipFill>
        <p:spPr>
          <a:xfrm>
            <a:off x="914400" y="1828800"/>
            <a:ext cx="7766892" cy="13716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Reward System}</a:t>
            </a:r>
          </a:p>
          <a:p/>
          <a:p>
            <a:r>
              <a:t>The reward system implements a competitive structure where red and blue agents have opposing objectives, creating an adversarial learning environment that encourages effective defensive strategies.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Core Reward Mechanism}</a:t>
            </a:r>
          </a:p>
          <a:p/>
          <a:p>
            <a:r>
              <a:t>The blue agent learns by receiving rewards based on two key factors: (1) the outcome of red agent attacks, and (2) the cost of its own defensive actions. The reward signal is designed to encourage successful deception while penalizing asset compromise.</a:t>
            </a:r>
          </a:p>
          <a:p/>
          <a:p>
            <a:r>
              <a:t>When red attacks occur, the blue agent's reward depends on whether the target was a decoy or a real asset:</a:t>
            </a:r>
          </a:p>
          <a:p/>
          <a:p>
            <a:r>
              <a:t>\item : Blue receives a positive reward when red attacks a decoy</a:t>
            </a:r>
          </a:p>
          <a:p>
            <a:r>
              <a:t>\item : Blue receives a negative reward when red attacks a real host</a:t>
            </a:r>
          </a:p>
          <a:p>
            <a:r>
              <a:t>\item : Blue pays costs for deploying and removing decoys</a:t>
            </a:r>
          </a:p>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Mathematical Formulation}</a:t>
            </a:r>
          </a:p>
          <a:p/>
          <a:p>
            <a:r>
              <a:t>The blue agent's reward at time  [MATH]  combines three components:</a:t>
            </a:r>
          </a:p>
          <a:p>
            <a:r>
              <a:t> [MATH] </a:t>
            </a:r>
          </a:p>
          <a:p/>
          <a:p>
            <a:r>
              <a:t>where  [MATH]  captures the outcome of red attacks and  [MATH]  represents the cost of blue's defensive actions.</a:t>
            </a:r>
          </a:p>
          <a:p/>
          <a:p>
            <a:r>
              <a:t>The attack reward uses indicator functions for compact representation:</a:t>
            </a:r>
          </a:p>
          <a:p>
            <a:r>
              <a:t> [MATH] </a:t>
            </a:r>
          </a:p>
          <a:p/>
          <a:p>
            <a:r>
              <a:t>and action costs are defined as:</a:t>
            </a:r>
          </a:p>
          <a:p>
            <a:r>
              <a:t> [MATH] </a:t>
            </a:r>
          </a:p>
          <a:p/>
          <a:p>
            <a:r>
              <a:t>where  [MATH]  represents the red agent's reward value for the current attack type:  [MATH]  for pingsweep, portscan, discovery, lateral-movement, privilege-escalation, and impact phases respectively, calibrated to MITRE ATT\&amp;CK severity progression .</a:t>
            </a:r>
          </a:p>
        </p:txBody>
      </p:sp>
      <p:pic>
        <p:nvPicPr>
          <p:cNvPr id="4" name="Picture 3" descr="fig_12.png"/>
          <p:cNvPicPr>
            <a:picLocks noChangeAspect="1"/>
          </p:cNvPicPr>
          <p:nvPr/>
        </p:nvPicPr>
        <p:blipFill>
          <a:blip r:embed="rId2"/>
          <a:stretch>
            <a:fillRect/>
          </a:stretch>
        </p:blipFill>
        <p:spPr>
          <a:xfrm>
            <a:off x="914400" y="1828800"/>
            <a:ext cx="755374" cy="1371600"/>
          </a:xfrm>
          <a:prstGeom prst="rect">
            <a:avLst/>
          </a:prstGeom>
        </p:spPr>
      </p:pic>
      <p:pic>
        <p:nvPicPr>
          <p:cNvPr id="5" name="Picture 4" descr="fig_106.png"/>
          <p:cNvPicPr>
            <a:picLocks noChangeAspect="1"/>
          </p:cNvPicPr>
          <p:nvPr/>
        </p:nvPicPr>
        <p:blipFill>
          <a:blip r:embed="rId3"/>
          <a:stretch>
            <a:fillRect/>
          </a:stretch>
        </p:blipFill>
        <p:spPr>
          <a:xfrm>
            <a:off x="914400" y="1828800"/>
            <a:ext cx="8855765" cy="1371600"/>
          </a:xfrm>
          <a:prstGeom prst="rect">
            <a:avLst/>
          </a:prstGeom>
        </p:spPr>
      </p:pic>
      <p:pic>
        <p:nvPicPr>
          <p:cNvPr id="6" name="Picture 5" descr="fig_107.png"/>
          <p:cNvPicPr>
            <a:picLocks noChangeAspect="1"/>
          </p:cNvPicPr>
          <p:nvPr/>
        </p:nvPicPr>
        <p:blipFill>
          <a:blip r:embed="rId4"/>
          <a:stretch>
            <a:fillRect/>
          </a:stretch>
        </p:blipFill>
        <p:spPr>
          <a:xfrm>
            <a:off x="914400" y="1828800"/>
            <a:ext cx="2713383" cy="1371600"/>
          </a:xfrm>
          <a:prstGeom prst="rect">
            <a:avLst/>
          </a:prstGeom>
        </p:spPr>
      </p:pic>
      <p:pic>
        <p:nvPicPr>
          <p:cNvPr id="7" name="Picture 6" descr="fig_108.png"/>
          <p:cNvPicPr>
            <a:picLocks noChangeAspect="1"/>
          </p:cNvPicPr>
          <p:nvPr/>
        </p:nvPicPr>
        <p:blipFill>
          <a:blip r:embed="rId5"/>
          <a:stretch>
            <a:fillRect/>
          </a:stretch>
        </p:blipFill>
        <p:spPr>
          <a:xfrm>
            <a:off x="914400" y="1828800"/>
            <a:ext cx="2623930" cy="1371600"/>
          </a:xfrm>
          <a:prstGeom prst="rect">
            <a:avLst/>
          </a:prstGeom>
        </p:spPr>
      </p:pic>
      <p:pic>
        <p:nvPicPr>
          <p:cNvPr id="8" name="Picture 7" descr="fig_109.png"/>
          <p:cNvPicPr>
            <a:picLocks noChangeAspect="1"/>
          </p:cNvPicPr>
          <p:nvPr/>
        </p:nvPicPr>
        <p:blipFill>
          <a:blip r:embed="rId6"/>
          <a:stretch>
            <a:fillRect/>
          </a:stretch>
        </p:blipFill>
        <p:spPr>
          <a:xfrm>
            <a:off x="914400" y="1828800"/>
            <a:ext cx="26552387" cy="1371600"/>
          </a:xfrm>
          <a:prstGeom prst="rect">
            <a:avLst/>
          </a:prstGeom>
        </p:spPr>
      </p:pic>
      <p:pic>
        <p:nvPicPr>
          <p:cNvPr id="9" name="Picture 8" descr="fig_110.png"/>
          <p:cNvPicPr>
            <a:picLocks noChangeAspect="1"/>
          </p:cNvPicPr>
          <p:nvPr/>
        </p:nvPicPr>
        <p:blipFill>
          <a:blip r:embed="rId7"/>
          <a:stretch>
            <a:fillRect/>
          </a:stretch>
        </p:blipFill>
        <p:spPr>
          <a:xfrm>
            <a:off x="914400" y="1828800"/>
            <a:ext cx="20439822" cy="1371600"/>
          </a:xfrm>
          <a:prstGeom prst="rect">
            <a:avLst/>
          </a:prstGeom>
        </p:spPr>
      </p:pic>
      <p:pic>
        <p:nvPicPr>
          <p:cNvPr id="10" name="Picture 9" descr="fig_111.png"/>
          <p:cNvPicPr>
            <a:picLocks noChangeAspect="1"/>
          </p:cNvPicPr>
          <p:nvPr/>
        </p:nvPicPr>
        <p:blipFill>
          <a:blip r:embed="rId8"/>
          <a:stretch>
            <a:fillRect/>
          </a:stretch>
        </p:blipFill>
        <p:spPr>
          <a:xfrm>
            <a:off x="914400" y="1828800"/>
            <a:ext cx="1331843" cy="1371600"/>
          </a:xfrm>
          <a:prstGeom prst="rect">
            <a:avLst/>
          </a:prstGeom>
        </p:spPr>
      </p:pic>
      <p:pic>
        <p:nvPicPr>
          <p:cNvPr id="11" name="Picture 10" descr="fig_112.png"/>
          <p:cNvPicPr>
            <a:picLocks noChangeAspect="1"/>
          </p:cNvPicPr>
          <p:nvPr/>
        </p:nvPicPr>
        <p:blipFill>
          <a:blip r:embed="rId9"/>
          <a:stretch>
            <a:fillRect/>
          </a:stretch>
        </p:blipFill>
        <p:spPr>
          <a:xfrm>
            <a:off x="914400" y="1828800"/>
            <a:ext cx="13348952" cy="13716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Reward Structure Properties}</a:t>
            </a:r>
          </a:p>
          <a:p/>
          <a:p>
            <a:r>
              <a:t>The reward structure incentivizes strategic deception through a 10× multiplier for successful decoy attacks, high deployment costs (-20) that encourage careful placement, and scaled penalties matching attack severity. The fixed red agent provides consistent adversarial pressure for blue agent learning.</a:t>
            </a:r>
          </a:p>
          <a:p/>
          <a:p>
            <a:r>
              <a:t>Since the red agent follows a fixed strategy, it receives rewards but does not learn from them. This design ensures consistent adversarial pressure while allowing the blue agent to develop effective defensive strategies through reinforcement learning.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Learning Objective}</a:t>
            </a:r>
          </a:p>
          <a:p/>
          <a:p>
            <a:r>
              <a:t>The blue agent optimizes the expected cumulative reward:</a:t>
            </a:r>
          </a:p>
          <a:p>
            <a:r>
              <a:t> [MATH] </a:t>
            </a:r>
          </a:p>
          <a:p/>
          <a:p>
            <a:r>
              <a:t>where  [MATH]  is the blue agent's policy,  [MATH]  is the fixed red agent strategy,  [MATH]  is the discount factor, and  [MATH]  is the episode horizon. This objective is optimized using Proximal Policy Optimization (PPO).</a:t>
            </a:r>
          </a:p>
        </p:txBody>
      </p:sp>
      <p:pic>
        <p:nvPicPr>
          <p:cNvPr id="4" name="Picture 3" descr="fig_113.png"/>
          <p:cNvPicPr>
            <a:picLocks noChangeAspect="1"/>
          </p:cNvPicPr>
          <p:nvPr/>
        </p:nvPicPr>
        <p:blipFill>
          <a:blip r:embed="rId2"/>
          <a:stretch>
            <a:fillRect/>
          </a:stretch>
        </p:blipFill>
        <p:spPr>
          <a:xfrm>
            <a:off x="914400" y="1828800"/>
            <a:ext cx="6717723" cy="1371600"/>
          </a:xfrm>
          <a:prstGeom prst="rect">
            <a:avLst/>
          </a:prstGeom>
        </p:spPr>
      </p:pic>
      <p:pic>
        <p:nvPicPr>
          <p:cNvPr id="5" name="Picture 4" descr="fig_11.png"/>
          <p:cNvPicPr>
            <a:picLocks noChangeAspect="1"/>
          </p:cNvPicPr>
          <p:nvPr/>
        </p:nvPicPr>
        <p:blipFill>
          <a:blip r:embed="rId3"/>
          <a:stretch>
            <a:fillRect/>
          </a:stretch>
        </p:blipFill>
        <p:spPr>
          <a:xfrm>
            <a:off x="914400" y="1828800"/>
            <a:ext cx="2076994" cy="1371600"/>
          </a:xfrm>
          <a:prstGeom prst="rect">
            <a:avLst/>
          </a:prstGeom>
        </p:spPr>
      </p:pic>
      <p:pic>
        <p:nvPicPr>
          <p:cNvPr id="6" name="Picture 5" descr="fig_10.png"/>
          <p:cNvPicPr>
            <a:picLocks noChangeAspect="1"/>
          </p:cNvPicPr>
          <p:nvPr/>
        </p:nvPicPr>
        <p:blipFill>
          <a:blip r:embed="rId4"/>
          <a:stretch>
            <a:fillRect/>
          </a:stretch>
        </p:blipFill>
        <p:spPr>
          <a:xfrm>
            <a:off x="914400" y="1828800"/>
            <a:ext cx="2176670" cy="1371600"/>
          </a:xfrm>
          <a:prstGeom prst="rect">
            <a:avLst/>
          </a:prstGeom>
        </p:spPr>
      </p:pic>
      <p:pic>
        <p:nvPicPr>
          <p:cNvPr id="7" name="Picture 6" descr="fig_17.png"/>
          <p:cNvPicPr>
            <a:picLocks noChangeAspect="1"/>
          </p:cNvPicPr>
          <p:nvPr/>
        </p:nvPicPr>
        <p:blipFill>
          <a:blip r:embed="rId5"/>
          <a:stretch>
            <a:fillRect/>
          </a:stretch>
        </p:blipFill>
        <p:spPr>
          <a:xfrm>
            <a:off x="914400" y="1828800"/>
            <a:ext cx="4686300" cy="1371600"/>
          </a:xfrm>
          <a:prstGeom prst="rect">
            <a:avLst/>
          </a:prstGeom>
        </p:spPr>
      </p:pic>
      <p:pic>
        <p:nvPicPr>
          <p:cNvPr id="8" name="Picture 7" descr="fig_117.png"/>
          <p:cNvPicPr>
            <a:picLocks noChangeAspect="1"/>
          </p:cNvPicPr>
          <p:nvPr/>
        </p:nvPicPr>
        <p:blipFill>
          <a:blip r:embed="rId6"/>
          <a:stretch>
            <a:fillRect/>
          </a:stretch>
        </p:blipFill>
        <p:spPr>
          <a:xfrm>
            <a:off x="914400" y="1828800"/>
            <a:ext cx="1113183" cy="13716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Environment-Agent Interaction Dynamics}</a:t>
            </a:r>
          </a:p>
          <a:p/>
          <a:p>
            <a:r>
              <a:t>[H]</a:t>
            </a:r>
          </a:p>
          <a:p>
            <a:r>
              <a:t>\centering</a:t>
            </a:r>
          </a:p>
          <a:p/>
          <a:p>
            <a:r>
              <a:t>\medskip</a:t>
            </a:r>
          </a:p>
          <a:p>
            <a:r>
              <a:t>{max width=0.95\linewidth,center}</a:t>
            </a:r>
          </a:p>
          <a:p>
            <a:r>
              <a:t>[font=\footnotesize,node distance=1.9cm,sys/.style={draw=black,rounded corners,minimum width=3.2cm,minimum height=1.7cm,align=center,fill=white}]</a:t>
            </a:r>
          </a:p>
          <a:p>
            <a:r>
              <a:t>    % Nodes tightened</a:t>
            </a:r>
          </a:p>
          <a:p>
            <a:r>
              <a:t>    \node[sys,fill=red!25] at (0,0) (red) {\\ [MATH]  fixed};</a:t>
            </a:r>
          </a:p>
          <a:p>
            <a:r>
              <a:t>    \node[sys,fill=blue!12] at (5.1,0) (envInt) {\\Hosts  [MATH] \\Decoys  [MATH] };</a:t>
            </a:r>
          </a:p>
          <a:p>
            <a:r>
              <a:t>    \node[sys,fill=green!18] at (10.2,0) (blue) {\\PPO  [MATH] };</a:t>
            </a:r>
          </a:p>
          <a:p>
            <a:r>
              <a:t>    % Arrows</a:t>
            </a:r>
          </a:p>
          <a:p>
            <a:r>
              <a:t>    \draw[-&gt;,very thick,red] (red) -- node[above,font=\scriptsize]{Attacks} (envInt);</a:t>
            </a:r>
          </a:p>
          <a:p>
            <a:r>
              <a:t>    \draw[-&gt;,very thick,blue] (envInt) -- node[above,font=\scriptsize]{Obs.} (blue);</a:t>
            </a:r>
          </a:p>
          <a:p>
            <a:r>
              <a:t>    \draw[-&gt;,very thick,black] (blue) to[out=150,in=30] node[above,font=\scriptsize]{Def. Actions} (envInt);</a:t>
            </a:r>
          </a:p>
          <a:p>
            <a:r>
              <a:t>    % Signals ellipse condensed</a:t>
            </a:r>
          </a:p>
          <a:p>
            <a:r>
              <a:t>    \node[draw,ellipse,fill=gray!10,inner sep=2pt,below=0.9cm of envInt] (signals) {Det./Comp. Signals};</a:t>
            </a:r>
          </a:p>
          <a:p>
            <a:r>
              <a:t>    \draw[-latex,thick] (envInt.south) -- (signals.north);</a:t>
            </a:r>
          </a:p>
          <a:p>
            <a:r>
              <a:t>    \draw[-latex,thick] (signals.west) -- +( -0.9,0) node[left,font=\tiny]{Reward Terms};</a:t>
            </a:r>
          </a:p>
          <a:p>
            <a:r>
              <a:t>    \draw[-latex,thick] (signals.east) -- +( 0.9,0) node[right,font=\tiny]{Shaping};</a:t>
            </a:r>
          </a:p>
          <a:p/>
          <a:p/>
          <a:p/>
          <a:p/>
          <a:p/>
          <a:p/>
          <a:p>
            <a:r>
              <a:t>Each timestep follows a clear sequence: blue agent acts → red agent attacks → environment updates → rewards calculated → observations updated for next timestep.</a:t>
            </a:r>
          </a:p>
          <a:p/>
          <a:p>
            <a:r>
              <a:t>This design ensures the blue agent receives clear, immediate feedback about the effectiveness of its defensive choices, enabling efficient learning through PPO.</a:t>
            </a:r>
          </a:p>
          <a:p>
            <a:r>
              <a:t>\MC{E}</a:t>
            </a:r>
          </a:p>
        </p:txBody>
      </p:sp>
      <p:pic>
        <p:nvPicPr>
          <p:cNvPr id="4" name="Picture 3" descr="fig_28.png"/>
          <p:cNvPicPr>
            <a:picLocks noChangeAspect="1"/>
          </p:cNvPicPr>
          <p:nvPr/>
        </p:nvPicPr>
        <p:blipFill>
          <a:blip r:embed="rId2"/>
          <a:stretch>
            <a:fillRect/>
          </a:stretch>
        </p:blipFill>
        <p:spPr>
          <a:xfrm>
            <a:off x="914400" y="1828800"/>
            <a:ext cx="1881051" cy="1371600"/>
          </a:xfrm>
          <a:prstGeom prst="rect">
            <a:avLst/>
          </a:prstGeom>
        </p:spPr>
      </p:pic>
      <p:pic>
        <p:nvPicPr>
          <p:cNvPr id="5" name="Picture 4" descr="fig_119.png"/>
          <p:cNvPicPr>
            <a:picLocks noChangeAspect="1"/>
          </p:cNvPicPr>
          <p:nvPr/>
        </p:nvPicPr>
        <p:blipFill>
          <a:blip r:embed="rId3"/>
          <a:stretch>
            <a:fillRect/>
          </a:stretch>
        </p:blipFill>
        <p:spPr>
          <a:xfrm>
            <a:off x="914400" y="1828800"/>
            <a:ext cx="1729409" cy="1371600"/>
          </a:xfrm>
          <a:prstGeom prst="rect">
            <a:avLst/>
          </a:prstGeom>
        </p:spPr>
      </p:pic>
      <p:pic>
        <p:nvPicPr>
          <p:cNvPr id="6" name="Picture 5" descr="fig_120.png"/>
          <p:cNvPicPr>
            <a:picLocks noChangeAspect="1"/>
          </p:cNvPicPr>
          <p:nvPr/>
        </p:nvPicPr>
        <p:blipFill>
          <a:blip r:embed="rId4"/>
          <a:stretch>
            <a:fillRect/>
          </a:stretch>
        </p:blipFill>
        <p:spPr>
          <a:xfrm>
            <a:off x="914400" y="1828800"/>
            <a:ext cx="1550504" cy="1371600"/>
          </a:xfrm>
          <a:prstGeom prst="rect">
            <a:avLst/>
          </a:prstGeom>
        </p:spPr>
      </p:pic>
      <p:pic>
        <p:nvPicPr>
          <p:cNvPr id="7" name="Picture 6" descr="fig_11.png"/>
          <p:cNvPicPr>
            <a:picLocks noChangeAspect="1"/>
          </p:cNvPicPr>
          <p:nvPr/>
        </p:nvPicPr>
        <p:blipFill>
          <a:blip r:embed="rId5"/>
          <a:stretch>
            <a:fillRect/>
          </a:stretch>
        </p:blipFill>
        <p:spPr>
          <a:xfrm>
            <a:off x="914400" y="1828800"/>
            <a:ext cx="2076994" cy="13716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Environment Selection and Extensibility Rationale}</a:t>
            </a:r>
          </a:p>
          <a:p/>
          <a:p>
            <a:r>
              <a:t> The Cyberwheel framework was developed by Oak Ridge National Laboratory (ORNL) as a modular, extensible platform for cybersecurity research and was selected after comparative review of alternative cyber-range simulation environments (e.g., CybORG, CAGE, OpenAI Gym network extensions) based on three key advantages: (1)  for decoy deployment state transitions crucial to our research, (2)  enabling systematic experimentation and baseline comparison, and (3)  supporting networks from 15 hosts to enterprise scale with deterministic adversary modes for controlled learning analysis.</a:t>
            </a:r>
          </a:p>
          <a:p/>
          <a:p>
            <a:r>
              <a:t>: The original Cyberwheel framework and documentation are maintained by Oak Ridge National Laboratory, with development motivated by the need for reproducible, scalable cybersecurity RL research platforms. This aligns directly with our requirements for systematic baseline comparison and experimental rigor.}</a:t>
            </a:r>
          </a:p>
          <a:p/>
          <a:p>
            <a:r>
              <a:t>: Our experimental design focuses on establishing fundamental defensive learning behaviors using a fixed adversary model. This approach preserves interpretability of baseline defensive learning signals and enables systematic analysis of policy behavior without additional complexity from dynamic attacker adaptation, leveraging Cyberwheel's modular design for controlled experimental conditions.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Cyberwheel Configuration System Architecture}</a:t>
            </a:r>
          </a:p>
          <a:p/>
          <a:p>
            <a:r>
              <a:t>[H]</a:t>
            </a:r>
          </a:p>
          <a:p>
            <a:r>
              <a:t>\centering</a:t>
            </a:r>
          </a:p>
          <a:p>
            <a:r>
              <a:t>[scale=1.2,font=\tiny,node distance=1cm,transform shape]</a:t>
            </a:r>
          </a:p>
          <a:p>
            <a:r>
              <a:t>    % Main Configuration Hierarchy</a:t>
            </a:r>
          </a:p>
          <a:p>
            <a:r>
              <a:t>    \node[draw=cwBorder, thick, rounded corners, fill=cwFlow!15, text width=2.2cm, align=center] at (0,0) (root) {\\YAML Hierarchy};</a:t>
            </a:r>
          </a:p>
          <a:p>
            <a:r>
              <a:t>    </a:t>
            </a:r>
          </a:p>
          <a:p>
            <a:r>
              <a:t>    % Environment Configuration</a:t>
            </a:r>
          </a:p>
          <a:p>
            <a:r>
              <a:t>    \node[draw=cwDecoy!60, thick, rounded corners, fill=cwDecoy!15, text width=2cm, align=center] at (-2,-2) (env) {\\Network topology\\Host configs\\Attack patterns};</a:t>
            </a:r>
          </a:p>
          <a:p>
            <a:r>
              <a:t>    </a:t>
            </a:r>
          </a:p>
          <a:p>
            <a:r>
              <a:t>    % Agent Configuration  </a:t>
            </a:r>
          </a:p>
          <a:p>
            <a:r>
              <a:t>    \node[draw=cwAlert!60, thick, rounded corners, fill=cwAlert!15, text width=2cm, align=center] at (2,-2) (agent) {\\PPO parameters\\Learning rates\\Net architecture};</a:t>
            </a:r>
          </a:p>
          <a:p>
            <a:r>
              <a:t>    </a:t>
            </a:r>
          </a:p>
          <a:p>
            <a:r>
              <a:t>    % Mathematical Mapping</a:t>
            </a:r>
          </a:p>
          <a:p>
            <a:r>
              <a:t>    \node[draw=cwReal!60, thick, rounded corners, fill=cwReal!15, text width=2cm, align=center] at (0,-4) (math) {\\ [MATH] ,  [MATH] ,  [MATH] \\Formal verify};</a:t>
            </a:r>
          </a:p>
          <a:p>
            <a:r>
              <a:t>    </a:t>
            </a:r>
          </a:p>
          <a:p>
            <a:r>
              <a:t>    % Experimental Controls</a:t>
            </a:r>
          </a:p>
          <a:p>
            <a:r>
              <a:t>    \node[draw=cwBorder!80, thick, rounded corners, fill=cwBorder!20, text width=2cm, align=center] at (-3,-4) (exp) {\\Seeds: \{1,42,123...\}\\Fixed red policy\\Unified logging};</a:t>
            </a:r>
          </a:p>
          <a:p>
            <a:r>
              <a:t>    </a:t>
            </a:r>
          </a:p>
          <a:p>
            <a:r>
              <a:t>    % Implementation Verification</a:t>
            </a:r>
          </a:p>
          <a:p>
            <a:r>
              <a:t>    \node[draw=cwBorder!80, thick, rounded corners, fill=cwBorder!20, text width=2cm, align=center] at (3,-4) (impl) {\\Code-config map\\Parameter validation\\Baseline consistent};</a:t>
            </a:r>
          </a:p>
          <a:p>
            <a:r>
              <a:t>    </a:t>
            </a:r>
          </a:p>
          <a:p>
            <a:r>
              <a:t>    % Arrows</a:t>
            </a:r>
          </a:p>
          <a:p>
            <a:r>
              <a:t>    \draw[-stealth, thick, cwFlow] (root) -- (env);</a:t>
            </a:r>
          </a:p>
          <a:p>
            <a:r>
              <a:t>    \draw[-stealth, thick, cwAlert] (root) -- (agent);</a:t>
            </a:r>
          </a:p>
          <a:p>
            <a:r>
              <a:t>    \draw[-stealth, thick, cwReal] (root) -- (math);</a:t>
            </a:r>
          </a:p>
          <a:p>
            <a:r>
              <a:t>    \draw[-stealth, thick, cwDecoy] (env) -- (exp);</a:t>
            </a:r>
          </a:p>
          <a:p>
            <a:r>
              <a:t>    \draw[-stealth, thick, cwAlert] (agent) -- (impl);</a:t>
            </a:r>
          </a:p>
          <a:p>
            <a:r>
              <a:t>    \draw[-stealth, thick, cwReal] (math) -- (exp);</a:t>
            </a:r>
          </a:p>
          <a:p>
            <a:r>
              <a:t>    \draw[-stealth, thick, cwReal] (math) -- (impl);</a:t>
            </a:r>
          </a:p>
          <a:p/>
          <a:p/>
          <a:p/>
          <a:p/>
          <a:p/>
        </p:txBody>
      </p:sp>
      <p:pic>
        <p:nvPicPr>
          <p:cNvPr id="4" name="Picture 3" descr="fig_122.png"/>
          <p:cNvPicPr>
            <a:picLocks noChangeAspect="1"/>
          </p:cNvPicPr>
          <p:nvPr/>
        </p:nvPicPr>
        <p:blipFill>
          <a:blip r:embed="rId2"/>
          <a:stretch>
            <a:fillRect/>
          </a:stretch>
        </p:blipFill>
        <p:spPr>
          <a:xfrm>
            <a:off x="914400" y="1828800"/>
            <a:ext cx="1013791" cy="1371600"/>
          </a:xfrm>
          <a:prstGeom prst="rect">
            <a:avLst/>
          </a:prstGeom>
        </p:spPr>
      </p:pic>
      <p:pic>
        <p:nvPicPr>
          <p:cNvPr id="5" name="Picture 4" descr="fig_123.png"/>
          <p:cNvPicPr>
            <a:picLocks noChangeAspect="1"/>
          </p:cNvPicPr>
          <p:nvPr/>
        </p:nvPicPr>
        <p:blipFill>
          <a:blip r:embed="rId3"/>
          <a:stretch>
            <a:fillRect/>
          </a:stretch>
        </p:blipFill>
        <p:spPr>
          <a:xfrm>
            <a:off x="914400" y="1828800"/>
            <a:ext cx="894522" cy="1371600"/>
          </a:xfrm>
          <a:prstGeom prst="rect">
            <a:avLst/>
          </a:prstGeom>
        </p:spPr>
      </p:pic>
      <p:pic>
        <p:nvPicPr>
          <p:cNvPr id="6" name="Picture 5" descr="fig_124.png"/>
          <p:cNvPicPr>
            <a:picLocks noChangeAspect="1"/>
          </p:cNvPicPr>
          <p:nvPr/>
        </p:nvPicPr>
        <p:blipFill>
          <a:blip r:embed="rId4"/>
          <a:stretch>
            <a:fillRect/>
          </a:stretch>
        </p:blipFill>
        <p:spPr>
          <a:xfrm>
            <a:off x="914400" y="1828800"/>
            <a:ext cx="854765" cy="13716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Formalisation (cont.)</a:t>
            </a:r>
          </a:p>
        </p:txBody>
      </p:sp>
      <p:sp>
        <p:nvSpPr>
          <p:cNvPr id="3" name="Content Placeholder 2"/>
          <p:cNvSpPr>
            <a:spLocks noGrp="1"/>
          </p:cNvSpPr>
          <p:nvPr>
            <p:ph idx="1"/>
          </p:nvPr>
        </p:nvSpPr>
        <p:spPr/>
        <p:txBody>
          <a:bodyPr/>
          <a:lstStyle/>
          <a:p>
            <a:r>
              <a:t>Configuration--Mathematical Parameter Mapping}</a:t>
            </a:r>
          </a:p>
          <a:p/>
          <a:p>
            <a:r>
              <a:t>  The mathematical notation framework links symbolic notation used in formal definitions to concrete configuration sources. All symbol definitions, configuration mappings, and implementation parameters are provided in Appendix C (Tables~--).</a:t>
            </a:r>
          </a:p>
          <a:p>
            <a:r>
              <a:t>%%%%%%%%%%%%%%%%%%%%%%%%%%%%%%%%%%%%%%%</a:t>
            </a:r>
          </a:p>
          <a:p>
            <a:r>
              <a:t>\clearpage</a:t>
            </a:r>
          </a:p>
          <a:p>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